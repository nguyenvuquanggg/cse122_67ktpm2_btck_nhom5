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103e85e-40f6-e12f-5440-d7af2469a423}">
          <p14:sldIdLst>
            <p14:sldId id="256"/>
            <p14:sldId id="257"/>
            <p14:sldId id="258"/>
            <p14:sldId id="259"/>
          </p14:sldIdLst>
        </p14:section>
        <p14:section name="Quang" id="{207e2dc9-fa65-cd02-52ed-8178176f755b}">
          <p14:sldIdLst>
            <p14:sldId id="260"/>
            <p14:sldId id="261"/>
          </p14:sldIdLst>
        </p14:section>
        <p14:section name="Cảnh" id="{a58d4d96-638f-a8b5-a469-e5190f42b20b}">
          <p14:sldIdLst>
            <p14:sldId id="262"/>
            <p14:sldId id="263"/>
          </p14:sldIdLst>
        </p14:section>
        <p14:section name="Duệ" id="{7b01ae25-967f-ed2b-299e-d2e503bbe7a9}">
          <p14:sldIdLst>
            <p14:sldId id="264"/>
            <p14:sldId id="265"/>
          </p14:sldIdLst>
        </p14:section>
        <p14:section name="Tổng kết" id="{04327b24-2d3c-2fb3-f3d1-46c475ca747f}">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Chào thầy cô và các bạn. Nhóm 5 gồm Quang, Cảnh, Duệ xin trình bày đề tài GreenSort.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Ba ý chính: vấn đề thực tế, mục tiêu hệ thống và kết quả nhóm đạt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Mỗi bạn làm 7 trang. Quang làm điều phối viên, quản trị viên và trang 403. Cảnh làm người dân cùng trang chủ, đăng nhập, đăng ký, quên mật khẩu. Duệ làm nhân viên thu gom cùng hồ sơ, cài đặt, thông báo và trang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Nhóm thống nhất một phần dùng chung để mọi role dùng chung một nguồn dữ liệu. Nhờ vậy ba phần ghép lại chạy được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Phần điều phối viên. Trang Bảng yêu cầu là mắt xích giữa người dân và nhân viên: điều phối chọn nhân viên, bấm Giao, hệ thống đổi trạng thái và gửi thông báo. Trang Quản lý điểm cho thêm, xóa điểm. Trang Phân tích tính số liệu từ chính các yêu cầu đã gửi.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Phần quản trị viên. Dashboard hiện số liệu thật. Quản trị viên thêm loại rác thì người dân thấy ngay, khóa tài khoản thì người đó không đăng nhập được. Trang 403 hiện khi người dùng vào sai trang của role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Phần cửa vào của hệ thống. Trang chủ giới thiệu, đăng nhập kiểm tra tài khoản rồi chuyển đúng trang theo vai trò, đăng ký kiểm tra dữ liệu nhập, quên mật khẩu cho đặt lại mật khẩu (bản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Phần người dân. Người dân tra cứu cách phân loại, tìm điểm thu gom gần nhất và gửi yêu cầu. Yêu cầu gửi xong được lưu vào kho dữ liệu chung và điều phối viên nhận thông báo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Duệ: Phần nhân viên thu gom. Nhân viên chỉ thấy việc được giao cho mình, bắt đầu thu gom, xem tuyến và cập nhật trạng thái. Mỗi lần cập nhật, người dân nhận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Duệ: Ba trang dùng chung cho mọi vai trò. Hồ sơ cho sửa số điện thoại và địa chỉ. Cài đặt có chế độ tối, bật tắt thông báo và đổi mật khẩu. Thông báo hiện các tin gửi đến người dùng và cập nhật số trên chuông. Trang 404 hiện khi đường dẫn không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demo: Cảnh đăng nhập người dân và gửi yêu cầu. Quang đăng nhập điều phối viên và giao việc. Duệ đăng nhập nhân viên thu gom, cập nhật Hoàn thành rồi người dân nhận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Đã chạy thử trên trình duyệt: cả 4 vai trò mở đủ trang, sai quyền bị chuyển sang 403, luồng từ gửi yêu cầu đến hoàn thành chạy đúng, không có lỗi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Bản demo là web tĩnh nên còn các hạn chế trên; nhóm đề xuất nâng cấp bằng backend, mã hóa mật khẩu và bản đồ. Xin cảm ơn thầy cô và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_D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Shape 1"/>
          <p:cNvSpPr/>
          <p:nvPr/>
        </p:nvSpPr>
        <p:spPr>
          <a:xfrm>
            <a:off x="640080" y="3063240"/>
            <a:ext cx="1097280" cy="64008"/>
          </a:xfrm>
          <a:prstGeom prst="rect">
            <a:avLst/>
          </a:prstGeom>
          <a:solidFill>
            <a:schemeClr val="accent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accent1"/>
          </a:solidFill>
          <a:ln/>
        </p:spPr>
      </p:sp>
      <p:sp>
        <p:nvSpPr>
          <p:cNvPr id="3" name="Text 1"/>
          <p:cNvSpPr/>
          <p:nvPr/>
        </p:nvSpPr>
        <p:spPr>
          <a:xfrm>
            <a:off x="457200" y="4800600"/>
            <a:ext cx="4572000" cy="274320"/>
          </a:xfrm>
          <a:prstGeom prst="rect">
            <a:avLst/>
          </a:prstGeom>
          <a:noFill/>
          <a:ln/>
        </p:spPr>
        <p:txBody>
          <a:bodyPr wrap="square" lIns="0" tIns="0" rIns="0" bIns="0" rtlCol="0" anchor="ctr"/>
          <a:lstStyle/>
          <a:p>
            <a:pPr indent="0" marL="0">
              <a:buNone/>
            </a:pPr>
            <a:r>
              <a:rPr lang="en-US" sz="900" dirty="0">
                <a:solidFill>
                  <a:schemeClr val="accent5"/>
                </a:solidFill>
              </a:rPr>
              <a:t>GreenSort · Nhóm 5 · CSE122</a:t>
            </a:r>
            <a:endParaRPr lang="en-US" sz="9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463040"/>
            <a:ext cx="7863840" cy="1097280"/>
          </a:xfrm>
          <a:prstGeom prst="rect">
            <a:avLst/>
          </a:prstGeom>
          <a:noFill/>
          <a:ln/>
        </p:spPr>
        <p:txBody>
          <a:bodyPr wrap="square" lIns="0" tIns="0" rIns="0" bIns="0" rtlCol="0" anchor="b"/>
          <a:lstStyle/>
          <a:p>
            <a:pPr indent="0" marL="0">
              <a:buNone/>
            </a:pPr>
            <a:r>
              <a:rPr lang="en-US" sz="4400" b="1" dirty="0">
                <a:solidFill>
                  <a:schemeClr val="bg1"/>
                </a:solidFill>
              </a:rPr>
              <a:t>GreenSort</a:t>
            </a:r>
            <a:endParaRPr lang="en-US" sz="4400" dirty="0"/>
          </a:p>
        </p:txBody>
      </p:sp>
      <p:sp>
        <p:nvSpPr>
          <p:cNvPr id="3" name="Text 1"/>
          <p:cNvSpPr/>
          <p:nvPr/>
        </p:nvSpPr>
        <p:spPr>
          <a:xfrm>
            <a:off x="640080" y="3291840"/>
            <a:ext cx="7863840" cy="1097280"/>
          </a:xfrm>
          <a:prstGeom prst="rect">
            <a:avLst/>
          </a:prstGeom>
          <a:noFill/>
          <a:ln/>
        </p:spPr>
        <p:txBody>
          <a:bodyPr wrap="square" lIns="0" tIns="0" rIns="0" bIns="0" rtlCol="0" anchor="t"/>
          <a:lstStyle/>
          <a:p>
            <a:pPr indent="0" marL="0">
              <a:buNone/>
            </a:pPr>
            <a:r>
              <a:rPr lang="en-US" sz="1800" dirty="0">
                <a:solidFill>
                  <a:schemeClr val="bg2"/>
                </a:solidFill>
              </a:rPr>
              <a:t>Hệ thống phân loại và thu gom rác thải cộng đồng</a:t>
            </a:r>
            <a:endParaRPr lang="en-US" sz="1800" dirty="0"/>
          </a:p>
          <a:p>
            <a:pPr indent="0" marL="0">
              <a:buNone/>
            </a:pPr>
            <a:r>
              <a:rPr lang="en-US" sz="1800" dirty="0">
                <a:solidFill>
                  <a:schemeClr val="bg2"/>
                </a:solidFill>
              </a:rPr>
              <a:t>Nhóm 5 · CSE122 · Quang, Cảnh, Duệ</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Bài toán và mục tiêu</a:t>
            </a:r>
            <a:endParaRPr lang="en-US" sz="2800" dirty="0"/>
          </a:p>
        </p:txBody>
      </p:sp>
      <p:sp>
        <p:nvSpPr>
          <p:cNvPr id="3" name="Vấn đề khung"/>
          <p:cNvSpPr/>
          <p:nvPr/>
        </p:nvSpPr>
        <p:spPr>
          <a:xfrm>
            <a:off x="457200" y="1097280"/>
            <a:ext cx="2651760" cy="3291840"/>
          </a:xfrm>
          <a:prstGeom prst="roundRect">
            <a:avLst>
              <a:gd name="adj" fmla="val 2759"/>
            </a:avLst>
          </a:prstGeom>
          <a:solidFill>
            <a:schemeClr val="bg2"/>
          </a:solidFill>
          <a:ln w="12700">
            <a:solidFill>
              <a:schemeClr val="bg2"/>
            </a:solidFill>
            <a:prstDash val="solid"/>
          </a:ln>
        </p:spPr>
      </p:sp>
      <p:sp>
        <p:nvSpPr>
          <p:cNvPr id="4" name="Vấn đề thanh màu"/>
          <p:cNvSpPr/>
          <p:nvPr/>
        </p:nvSpPr>
        <p:spPr>
          <a:xfrm>
            <a:off x="457200" y="1207008"/>
            <a:ext cx="64008" cy="365760"/>
          </a:xfrm>
          <a:prstGeom prst="rect">
            <a:avLst/>
          </a:prstGeom>
          <a:solidFill>
            <a:schemeClr val="accent4"/>
          </a:solidFill>
          <a:ln w="12700">
            <a:solidFill>
              <a:schemeClr val="accent4"/>
            </a:solidFill>
            <a:prstDash val="solid"/>
          </a:ln>
        </p:spPr>
      </p:sp>
      <p:sp>
        <p:nvSpPr>
          <p:cNvPr id="5" name="Vấn đề tiêu đề"/>
          <p:cNvSpPr txBox="1"/>
          <p:nvPr/>
        </p:nvSpPr>
        <p:spPr>
          <a:xfrm>
            <a:off x="64008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Vấn đề</a:t>
            </a:r>
            <a:endParaRPr lang="en-US" sz="1500" dirty="0"/>
          </a:p>
        </p:txBody>
      </p:sp>
      <p:sp>
        <p:nvSpPr>
          <p:cNvPr id="6" name="Vấn đề nội dung"/>
          <p:cNvSpPr txBox="1"/>
          <p:nvPr/>
        </p:nvSpPr>
        <p:spPr>
          <a:xfrm>
            <a:off x="640080" y="169164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Người dân khó biết phân loại rác đúng</a:t>
            </a:r>
            <a:endParaRPr lang="en-US" sz="1600" dirty="0"/>
          </a:p>
          <a:p>
            <a:pPr marL="342900" indent="-342900">
              <a:spcAft>
                <a:spcPts val="500"/>
              </a:spcAft>
              <a:buSzPct val="100000"/>
              <a:buChar char="•"/>
            </a:pPr>
            <a:r>
              <a:rPr lang="en-US" sz="1600" dirty="0">
                <a:solidFill>
                  <a:schemeClr val="tx1"/>
                </a:solidFill>
              </a:rPr>
              <a:t>Yêu cầu thu gom không có đầu mối điều phối</a:t>
            </a:r>
            <a:endParaRPr lang="en-US" sz="1600" dirty="0"/>
          </a:p>
          <a:p>
            <a:pPr marL="342900" indent="-342900">
              <a:spcAft>
                <a:spcPts val="500"/>
              </a:spcAft>
              <a:buSzPct val="100000"/>
              <a:buChar char="•"/>
            </a:pPr>
            <a:r>
              <a:rPr lang="en-US" sz="1600" dirty="0">
                <a:solidFill>
                  <a:schemeClr val="tx1"/>
                </a:solidFill>
              </a:rPr>
              <a:t>Không theo dõi được tiến độ xử lý</a:t>
            </a:r>
            <a:endParaRPr lang="en-US" sz="1600" dirty="0"/>
          </a:p>
        </p:txBody>
      </p:sp>
      <p:sp>
        <p:nvSpPr>
          <p:cNvPr id="7" name="Mục tiêu khung"/>
          <p:cNvSpPr/>
          <p:nvPr/>
        </p:nvSpPr>
        <p:spPr>
          <a:xfrm>
            <a:off x="3246120" y="1097280"/>
            <a:ext cx="2651760" cy="3291840"/>
          </a:xfrm>
          <a:prstGeom prst="roundRect">
            <a:avLst>
              <a:gd name="adj" fmla="val 2759"/>
            </a:avLst>
          </a:prstGeom>
          <a:solidFill>
            <a:schemeClr val="bg2"/>
          </a:solidFill>
          <a:ln w="12700">
            <a:solidFill>
              <a:schemeClr val="bg2"/>
            </a:solidFill>
            <a:prstDash val="solid"/>
          </a:ln>
        </p:spPr>
      </p:sp>
      <p:sp>
        <p:nvSpPr>
          <p:cNvPr id="8" name="Mục tiêu thanh màu"/>
          <p:cNvSpPr/>
          <p:nvPr/>
        </p:nvSpPr>
        <p:spPr>
          <a:xfrm>
            <a:off x="3246120" y="1207008"/>
            <a:ext cx="64008" cy="365760"/>
          </a:xfrm>
          <a:prstGeom prst="rect">
            <a:avLst/>
          </a:prstGeom>
          <a:solidFill>
            <a:schemeClr val="accent2"/>
          </a:solidFill>
          <a:ln w="12700">
            <a:solidFill>
              <a:schemeClr val="accent2"/>
            </a:solidFill>
            <a:prstDash val="solid"/>
          </a:ln>
        </p:spPr>
      </p:sp>
      <p:sp>
        <p:nvSpPr>
          <p:cNvPr id="9" name="Mục tiêu tiêu đề"/>
          <p:cNvSpPr txBox="1"/>
          <p:nvPr/>
        </p:nvSpPr>
        <p:spPr>
          <a:xfrm>
            <a:off x="342900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Mục tiêu</a:t>
            </a:r>
            <a:endParaRPr lang="en-US" sz="1500" dirty="0"/>
          </a:p>
        </p:txBody>
      </p:sp>
      <p:sp>
        <p:nvSpPr>
          <p:cNvPr id="10" name="Mục tiêu nội dung"/>
          <p:cNvSpPr txBox="1"/>
          <p:nvPr/>
        </p:nvSpPr>
        <p:spPr>
          <a:xfrm>
            <a:off x="3429000" y="169164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Hướng dẫn phân loại và tìm điểm thu gom</a:t>
            </a:r>
            <a:endParaRPr lang="en-US" sz="1600" dirty="0"/>
          </a:p>
          <a:p>
            <a:pPr marL="342900" indent="-342900">
              <a:spcAft>
                <a:spcPts val="500"/>
              </a:spcAft>
              <a:buSzPct val="100000"/>
              <a:buChar char="•"/>
            </a:pPr>
            <a:r>
              <a:rPr lang="en-US" sz="1600" dirty="0">
                <a:solidFill>
                  <a:schemeClr val="tx1"/>
                </a:solidFill>
              </a:rPr>
              <a:t>Gửi yêu cầu, giao việc, cập nhật trạng thái</a:t>
            </a:r>
            <a:endParaRPr lang="en-US" sz="1600" dirty="0"/>
          </a:p>
          <a:p>
            <a:pPr marL="342900" indent="-342900">
              <a:spcAft>
                <a:spcPts val="500"/>
              </a:spcAft>
              <a:buSzPct val="100000"/>
              <a:buChar char="•"/>
            </a:pPr>
            <a:r>
              <a:rPr lang="en-US" sz="1600" dirty="0">
                <a:solidFill>
                  <a:schemeClr val="tx1"/>
                </a:solidFill>
              </a:rPr>
              <a:t>Thông báo đúng người ở mỗi bước</a:t>
            </a:r>
            <a:endParaRPr lang="en-US" sz="1600" dirty="0"/>
          </a:p>
        </p:txBody>
      </p:sp>
      <p:sp>
        <p:nvSpPr>
          <p:cNvPr id="11" name="Kết quả khung"/>
          <p:cNvSpPr/>
          <p:nvPr/>
        </p:nvSpPr>
        <p:spPr>
          <a:xfrm>
            <a:off x="6035040" y="1097280"/>
            <a:ext cx="2651760" cy="3291840"/>
          </a:xfrm>
          <a:prstGeom prst="roundRect">
            <a:avLst>
              <a:gd name="adj" fmla="val 2759"/>
            </a:avLst>
          </a:prstGeom>
          <a:solidFill>
            <a:schemeClr val="bg2"/>
          </a:solidFill>
          <a:ln w="12700">
            <a:solidFill>
              <a:schemeClr val="bg2"/>
            </a:solidFill>
            <a:prstDash val="solid"/>
          </a:ln>
        </p:spPr>
      </p:sp>
      <p:sp>
        <p:nvSpPr>
          <p:cNvPr id="12" name="Kết quả thanh màu"/>
          <p:cNvSpPr/>
          <p:nvPr/>
        </p:nvSpPr>
        <p:spPr>
          <a:xfrm>
            <a:off x="6035040" y="1207008"/>
            <a:ext cx="64008" cy="365760"/>
          </a:xfrm>
          <a:prstGeom prst="rect">
            <a:avLst/>
          </a:prstGeom>
          <a:solidFill>
            <a:schemeClr val="accent1"/>
          </a:solidFill>
          <a:ln w="12700">
            <a:solidFill>
              <a:schemeClr val="accent1"/>
            </a:solidFill>
            <a:prstDash val="solid"/>
          </a:ln>
        </p:spPr>
      </p:sp>
      <p:sp>
        <p:nvSpPr>
          <p:cNvPr id="13" name="Kết quả tiêu đề"/>
          <p:cNvSpPr txBox="1"/>
          <p:nvPr/>
        </p:nvSpPr>
        <p:spPr>
          <a:xfrm>
            <a:off x="621792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Kết quả</a:t>
            </a:r>
            <a:endParaRPr lang="en-US" sz="1500" dirty="0"/>
          </a:p>
        </p:txBody>
      </p:sp>
      <p:sp>
        <p:nvSpPr>
          <p:cNvPr id="14" name="Kết quả nội dung"/>
          <p:cNvSpPr txBox="1"/>
          <p:nvPr/>
        </p:nvSpPr>
        <p:spPr>
          <a:xfrm>
            <a:off x="6217920" y="169164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21 giao diện cho 4 vai trò</a:t>
            </a:r>
            <a:endParaRPr lang="en-US" sz="1600" dirty="0"/>
          </a:p>
          <a:p>
            <a:pPr marL="342900" indent="-342900">
              <a:spcAft>
                <a:spcPts val="500"/>
              </a:spcAft>
              <a:buSzPct val="100000"/>
              <a:buChar char="•"/>
            </a:pPr>
            <a:r>
              <a:rPr lang="en-US" sz="1600" dirty="0">
                <a:solidFill>
                  <a:schemeClr val="tx1"/>
                </a:solidFill>
              </a:rPr>
              <a:t>Chạy được trên một file HTML</a:t>
            </a:r>
            <a:endParaRPr lang="en-US" sz="1600" dirty="0"/>
          </a:p>
          <a:p>
            <a:pPr marL="342900" indent="-342900">
              <a:spcAft>
                <a:spcPts val="500"/>
              </a:spcAft>
              <a:buSzPct val="100000"/>
              <a:buChar char="•"/>
            </a:pPr>
            <a:r>
              <a:rPr lang="en-US" sz="1600" dirty="0">
                <a:solidFill>
                  <a:schemeClr val="tx1"/>
                </a:solidFill>
              </a:rPr>
              <a:t>Dữ liệu và phân quyền liên kết giữa các role</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Phân công thành viên (21 trang)</a:t>
            </a:r>
            <a:endParaRPr lang="en-US" sz="2800" dirty="0"/>
          </a:p>
        </p:txBody>
      </p:sp>
      <p:sp>
        <p:nvSpPr>
          <p:cNvPr id="3" name="Quang · 7 trang khung"/>
          <p:cNvSpPr/>
          <p:nvPr/>
        </p:nvSpPr>
        <p:spPr>
          <a:xfrm>
            <a:off x="457200" y="1097280"/>
            <a:ext cx="2651760" cy="2651760"/>
          </a:xfrm>
          <a:prstGeom prst="roundRect">
            <a:avLst>
              <a:gd name="adj" fmla="val 2759"/>
            </a:avLst>
          </a:prstGeom>
          <a:solidFill>
            <a:schemeClr val="bg2"/>
          </a:solidFill>
          <a:ln w="12700">
            <a:solidFill>
              <a:schemeClr val="bg2"/>
            </a:solidFill>
            <a:prstDash val="solid"/>
          </a:ln>
        </p:spPr>
      </p:sp>
      <p:sp>
        <p:nvSpPr>
          <p:cNvPr id="4" name="Quang · 7 trang thanh màu"/>
          <p:cNvSpPr/>
          <p:nvPr/>
        </p:nvSpPr>
        <p:spPr>
          <a:xfrm>
            <a:off x="457200" y="1207008"/>
            <a:ext cx="64008" cy="365760"/>
          </a:xfrm>
          <a:prstGeom prst="rect">
            <a:avLst/>
          </a:prstGeom>
          <a:solidFill>
            <a:schemeClr val="accent3"/>
          </a:solidFill>
          <a:ln w="12700">
            <a:solidFill>
              <a:schemeClr val="accent3"/>
            </a:solidFill>
            <a:prstDash val="solid"/>
          </a:ln>
        </p:spPr>
      </p:sp>
      <p:sp>
        <p:nvSpPr>
          <p:cNvPr id="5" name="Quang · 7 trang tiêu đề"/>
          <p:cNvSpPr txBox="1"/>
          <p:nvPr/>
        </p:nvSpPr>
        <p:spPr>
          <a:xfrm>
            <a:off x="64008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Quang · 7 trang</a:t>
            </a:r>
            <a:endParaRPr lang="en-US" sz="1500" dirty="0"/>
          </a:p>
        </p:txBody>
      </p:sp>
      <p:sp>
        <p:nvSpPr>
          <p:cNvPr id="6" name="Quang · 7 trang nội dung"/>
          <p:cNvSpPr txBox="1"/>
          <p:nvPr/>
        </p:nvSpPr>
        <p:spPr>
          <a:xfrm>
            <a:off x="640080" y="169164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Điều phối viên: 3 trang</a:t>
            </a:r>
            <a:endParaRPr lang="en-US" sz="1600" dirty="0"/>
          </a:p>
          <a:p>
            <a:pPr marL="342900" indent="-342900">
              <a:spcAft>
                <a:spcPts val="500"/>
              </a:spcAft>
              <a:buSzPct val="100000"/>
              <a:buChar char="•"/>
            </a:pPr>
            <a:r>
              <a:rPr lang="en-US" sz="1600" dirty="0">
                <a:solidFill>
                  <a:schemeClr val="tx1"/>
                </a:solidFill>
              </a:rPr>
              <a:t>Quản trị viên: 3 trang</a:t>
            </a:r>
            <a:endParaRPr lang="en-US" sz="1600" dirty="0"/>
          </a:p>
          <a:p>
            <a:pPr marL="342900" indent="-342900">
              <a:spcAft>
                <a:spcPts val="500"/>
              </a:spcAft>
              <a:buSzPct val="100000"/>
              <a:buChar char="•"/>
            </a:pPr>
            <a:r>
              <a:rPr lang="en-US" sz="1600" dirty="0">
                <a:solidFill>
                  <a:schemeClr val="tx1"/>
                </a:solidFill>
              </a:rPr>
              <a:t>Trang báo lỗi 403</a:t>
            </a:r>
            <a:endParaRPr lang="en-US" sz="1600" dirty="0"/>
          </a:p>
        </p:txBody>
      </p:sp>
      <p:sp>
        <p:nvSpPr>
          <p:cNvPr id="7" name="Cảnh · 7 trang khung"/>
          <p:cNvSpPr/>
          <p:nvPr/>
        </p:nvSpPr>
        <p:spPr>
          <a:xfrm>
            <a:off x="3246120" y="1097280"/>
            <a:ext cx="2651760" cy="2651760"/>
          </a:xfrm>
          <a:prstGeom prst="roundRect">
            <a:avLst>
              <a:gd name="adj" fmla="val 2759"/>
            </a:avLst>
          </a:prstGeom>
          <a:solidFill>
            <a:schemeClr val="bg2"/>
          </a:solidFill>
          <a:ln w="12700">
            <a:solidFill>
              <a:schemeClr val="bg2"/>
            </a:solidFill>
            <a:prstDash val="solid"/>
          </a:ln>
        </p:spPr>
      </p:sp>
      <p:sp>
        <p:nvSpPr>
          <p:cNvPr id="8" name="Cảnh · 7 trang thanh màu"/>
          <p:cNvSpPr/>
          <p:nvPr/>
        </p:nvSpPr>
        <p:spPr>
          <a:xfrm>
            <a:off x="3246120" y="1207008"/>
            <a:ext cx="64008" cy="365760"/>
          </a:xfrm>
          <a:prstGeom prst="rect">
            <a:avLst/>
          </a:prstGeom>
          <a:solidFill>
            <a:schemeClr val="accent1"/>
          </a:solidFill>
          <a:ln w="12700">
            <a:solidFill>
              <a:schemeClr val="accent1"/>
            </a:solidFill>
            <a:prstDash val="solid"/>
          </a:ln>
        </p:spPr>
      </p:sp>
      <p:sp>
        <p:nvSpPr>
          <p:cNvPr id="9" name="Cảnh · 7 trang tiêu đề"/>
          <p:cNvSpPr txBox="1"/>
          <p:nvPr/>
        </p:nvSpPr>
        <p:spPr>
          <a:xfrm>
            <a:off x="342900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Cảnh · 7 trang</a:t>
            </a:r>
            <a:endParaRPr lang="en-US" sz="1500" dirty="0"/>
          </a:p>
        </p:txBody>
      </p:sp>
      <p:sp>
        <p:nvSpPr>
          <p:cNvPr id="10" name="Cảnh · 7 trang nội dung"/>
          <p:cNvSpPr txBox="1"/>
          <p:nvPr/>
        </p:nvSpPr>
        <p:spPr>
          <a:xfrm>
            <a:off x="3429000" y="169164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Người dân: 3 trang</a:t>
            </a:r>
            <a:endParaRPr lang="en-US" sz="1600" dirty="0"/>
          </a:p>
          <a:p>
            <a:pPr marL="342900" indent="-342900">
              <a:spcAft>
                <a:spcPts val="500"/>
              </a:spcAft>
              <a:buSzPct val="100000"/>
              <a:buChar char="•"/>
            </a:pPr>
            <a:r>
              <a:rPr lang="en-US" sz="1600" dirty="0">
                <a:solidFill>
                  <a:schemeClr val="tx1"/>
                </a:solidFill>
              </a:rPr>
              <a:t>Trang chủ, Đăng nhập</a:t>
            </a:r>
            <a:endParaRPr lang="en-US" sz="1600" dirty="0"/>
          </a:p>
          <a:p>
            <a:pPr marL="342900" indent="-342900">
              <a:spcAft>
                <a:spcPts val="500"/>
              </a:spcAft>
              <a:buSzPct val="100000"/>
              <a:buChar char="•"/>
            </a:pPr>
            <a:r>
              <a:rPr lang="en-US" sz="1600" dirty="0">
                <a:solidFill>
                  <a:schemeClr val="tx1"/>
                </a:solidFill>
              </a:rPr>
              <a:t>Đăng ký, Quên mật khẩu</a:t>
            </a:r>
            <a:endParaRPr lang="en-US" sz="1600" dirty="0"/>
          </a:p>
        </p:txBody>
      </p:sp>
      <p:sp>
        <p:nvSpPr>
          <p:cNvPr id="11" name="Duệ · 7 trang khung"/>
          <p:cNvSpPr/>
          <p:nvPr/>
        </p:nvSpPr>
        <p:spPr>
          <a:xfrm>
            <a:off x="6035040" y="1097280"/>
            <a:ext cx="2651760" cy="2651760"/>
          </a:xfrm>
          <a:prstGeom prst="roundRect">
            <a:avLst>
              <a:gd name="adj" fmla="val 2759"/>
            </a:avLst>
          </a:prstGeom>
          <a:solidFill>
            <a:schemeClr val="bg2"/>
          </a:solidFill>
          <a:ln w="12700">
            <a:solidFill>
              <a:schemeClr val="bg2"/>
            </a:solidFill>
            <a:prstDash val="solid"/>
          </a:ln>
        </p:spPr>
      </p:sp>
      <p:sp>
        <p:nvSpPr>
          <p:cNvPr id="12" name="Duệ · 7 trang thanh màu"/>
          <p:cNvSpPr/>
          <p:nvPr/>
        </p:nvSpPr>
        <p:spPr>
          <a:xfrm>
            <a:off x="6035040" y="1207008"/>
            <a:ext cx="64008" cy="365760"/>
          </a:xfrm>
          <a:prstGeom prst="rect">
            <a:avLst/>
          </a:prstGeom>
          <a:solidFill>
            <a:schemeClr val="accent2"/>
          </a:solidFill>
          <a:ln w="12700">
            <a:solidFill>
              <a:schemeClr val="accent2"/>
            </a:solidFill>
            <a:prstDash val="solid"/>
          </a:ln>
        </p:spPr>
      </p:sp>
      <p:sp>
        <p:nvSpPr>
          <p:cNvPr id="13" name="Duệ · 7 trang tiêu đề"/>
          <p:cNvSpPr txBox="1"/>
          <p:nvPr/>
        </p:nvSpPr>
        <p:spPr>
          <a:xfrm>
            <a:off x="6217920" y="1188720"/>
            <a:ext cx="2377440" cy="411480"/>
          </a:xfrm>
          <a:prstGeom prst="rect">
            <a:avLst/>
          </a:prstGeom>
          <a:noFill/>
          <a:ln/>
        </p:spPr>
        <p:txBody>
          <a:bodyPr wrap="square" lIns="0" tIns="0" rIns="0" bIns="0" rtlCol="0" anchor="ctr"/>
          <a:lstStyle/>
          <a:p>
            <a:pPr indent="0" marL="0">
              <a:buNone/>
            </a:pPr>
            <a:r>
              <a:rPr lang="en-US" sz="1500" b="1" dirty="0">
                <a:solidFill>
                  <a:schemeClr val="tx2"/>
                </a:solidFill>
              </a:rPr>
              <a:t>Duệ · 7 trang</a:t>
            </a:r>
            <a:endParaRPr lang="en-US" sz="1500" dirty="0"/>
          </a:p>
        </p:txBody>
      </p:sp>
      <p:sp>
        <p:nvSpPr>
          <p:cNvPr id="14" name="Duệ · 7 trang nội dung"/>
          <p:cNvSpPr txBox="1"/>
          <p:nvPr/>
        </p:nvSpPr>
        <p:spPr>
          <a:xfrm>
            <a:off x="6217920" y="169164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Nhân viên thu gom: 3 trang</a:t>
            </a:r>
            <a:endParaRPr lang="en-US" sz="1600" dirty="0"/>
          </a:p>
          <a:p>
            <a:pPr marL="342900" indent="-342900">
              <a:spcAft>
                <a:spcPts val="500"/>
              </a:spcAft>
              <a:buSzPct val="100000"/>
              <a:buChar char="•"/>
            </a:pPr>
            <a:r>
              <a:rPr lang="en-US" sz="1600" dirty="0">
                <a:solidFill>
                  <a:schemeClr val="tx1"/>
                </a:solidFill>
              </a:rPr>
              <a:t>Hồ sơ, Cài đặt, Thông báo</a:t>
            </a:r>
            <a:endParaRPr lang="en-US" sz="1600" dirty="0"/>
          </a:p>
          <a:p>
            <a:pPr marL="342900" indent="-342900">
              <a:spcAft>
                <a:spcPts val="500"/>
              </a:spcAft>
              <a:buSzPct val="100000"/>
              <a:buChar char="•"/>
            </a:pPr>
            <a:r>
              <a:rPr lang="en-US" sz="1600" dirty="0">
                <a:solidFill>
                  <a:schemeClr val="tx1"/>
                </a:solidFill>
              </a:rPr>
              <a:t>Trang báo lỗi 404</a:t>
            </a:r>
            <a:endParaRPr lang="en-US" sz="1600" dirty="0"/>
          </a:p>
        </p:txBody>
      </p:sp>
      <p:sp>
        <p:nvSpPr>
          <p:cNvPr id="15" name="Dòng tổng"/>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600" b="1" dirty="0">
                <a:solidFill>
                  <a:schemeClr val="tx2"/>
                </a:solidFill>
              </a:rPr>
              <a:t>Tổng: 7 + 7 + 7 = 21 trang, ghép thành một web hoàn chỉnh</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Công nghệ và kiến trúc chung</a:t>
            </a:r>
            <a:endParaRPr lang="en-US" sz="2800" dirty="0"/>
          </a:p>
        </p:txBody>
      </p:sp>
      <p:sp>
        <p:nvSpPr>
          <p:cNvPr id="3" name="Công nghệ khung"/>
          <p:cNvSpPr/>
          <p:nvPr/>
        </p:nvSpPr>
        <p:spPr>
          <a:xfrm>
            <a:off x="457200" y="1097280"/>
            <a:ext cx="3291840" cy="3291840"/>
          </a:xfrm>
          <a:prstGeom prst="roundRect">
            <a:avLst>
              <a:gd name="adj" fmla="val 2222"/>
            </a:avLst>
          </a:prstGeom>
          <a:solidFill>
            <a:schemeClr val="bg2"/>
          </a:solidFill>
          <a:ln w="12700">
            <a:solidFill>
              <a:schemeClr val="bg2"/>
            </a:solidFill>
            <a:prstDash val="solid"/>
          </a:ln>
        </p:spPr>
      </p:sp>
      <p:sp>
        <p:nvSpPr>
          <p:cNvPr id="4" name="Công nghệ thanh màu"/>
          <p:cNvSpPr/>
          <p:nvPr/>
        </p:nvSpPr>
        <p:spPr>
          <a:xfrm>
            <a:off x="457200" y="1207008"/>
            <a:ext cx="64008" cy="365760"/>
          </a:xfrm>
          <a:prstGeom prst="rect">
            <a:avLst/>
          </a:prstGeom>
          <a:solidFill>
            <a:schemeClr val="accent1"/>
          </a:solidFill>
          <a:ln w="12700">
            <a:solidFill>
              <a:schemeClr val="accent1"/>
            </a:solidFill>
            <a:prstDash val="solid"/>
          </a:ln>
        </p:spPr>
      </p:sp>
      <p:sp>
        <p:nvSpPr>
          <p:cNvPr id="5" name="Công nghệ tiêu đề"/>
          <p:cNvSpPr txBox="1"/>
          <p:nvPr/>
        </p:nvSpPr>
        <p:spPr>
          <a:xfrm>
            <a:off x="640080" y="1188720"/>
            <a:ext cx="3017520" cy="411480"/>
          </a:xfrm>
          <a:prstGeom prst="rect">
            <a:avLst/>
          </a:prstGeom>
          <a:noFill/>
          <a:ln/>
        </p:spPr>
        <p:txBody>
          <a:bodyPr wrap="square" lIns="0" tIns="0" rIns="0" bIns="0" rtlCol="0" anchor="ctr"/>
          <a:lstStyle/>
          <a:p>
            <a:pPr indent="0" marL="0">
              <a:buNone/>
            </a:pPr>
            <a:r>
              <a:rPr lang="en-US" sz="1500" b="1" dirty="0">
                <a:solidFill>
                  <a:schemeClr val="tx2"/>
                </a:solidFill>
              </a:rPr>
              <a:t>Công nghệ sử dụng</a:t>
            </a:r>
            <a:endParaRPr lang="en-US" sz="1500" dirty="0"/>
          </a:p>
        </p:txBody>
      </p:sp>
      <p:sp>
        <p:nvSpPr>
          <p:cNvPr id="6" name="Công nghệ nội dung"/>
          <p:cNvSpPr txBox="1"/>
          <p:nvPr/>
        </p:nvSpPr>
        <p:spPr>
          <a:xfrm>
            <a:off x="640080" y="1691640"/>
            <a:ext cx="297180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HTML5 cho cấu trúc</a:t>
            </a:r>
            <a:endParaRPr lang="en-US" sz="1600" dirty="0"/>
          </a:p>
          <a:p>
            <a:pPr marL="342900" indent="-342900">
              <a:spcAft>
                <a:spcPts val="500"/>
              </a:spcAft>
              <a:buSzPct val="100000"/>
              <a:buChar char="•"/>
            </a:pPr>
            <a:r>
              <a:rPr lang="en-US" sz="1600" dirty="0">
                <a:solidFill>
                  <a:schemeClr val="tx1"/>
                </a:solidFill>
              </a:rPr>
              <a:t>CSS3 và Bootstrap 5.3 cho giao diện</a:t>
            </a:r>
            <a:endParaRPr lang="en-US" sz="1600" dirty="0"/>
          </a:p>
          <a:p>
            <a:pPr marL="342900" indent="-342900">
              <a:spcAft>
                <a:spcPts val="500"/>
              </a:spcAft>
              <a:buSzPct val="100000"/>
              <a:buChar char="•"/>
            </a:pPr>
            <a:r>
              <a:rPr lang="en-US" sz="1600" dirty="0">
                <a:solidFill>
                  <a:schemeClr val="tx1"/>
                </a:solidFill>
              </a:rPr>
              <a:t>JavaScript thuần (var, hàm, vòng for)</a:t>
            </a:r>
            <a:endParaRPr lang="en-US" sz="1600" dirty="0"/>
          </a:p>
          <a:p>
            <a:pPr marL="342900" indent="-342900">
              <a:spcAft>
                <a:spcPts val="500"/>
              </a:spcAft>
              <a:buSzPct val="100000"/>
              <a:buChar char="•"/>
            </a:pPr>
            <a:r>
              <a:rPr lang="en-US" sz="1600" dirty="0">
                <a:solidFill>
                  <a:schemeClr val="tx1"/>
                </a:solidFill>
              </a:rPr>
              <a:t>localStorage để lưu dữ liệu</a:t>
            </a:r>
            <a:endParaRPr lang="en-US" sz="1600" dirty="0"/>
          </a:p>
        </p:txBody>
      </p:sp>
      <p:sp>
        <p:nvSpPr>
          <p:cNvPr id="7" name="Khung phần dùng chung"/>
          <p:cNvSpPr/>
          <p:nvPr/>
        </p:nvSpPr>
        <p:spPr>
          <a:xfrm>
            <a:off x="4023360" y="1097280"/>
            <a:ext cx="4663440" cy="1417320"/>
          </a:xfrm>
          <a:prstGeom prst="roundRect">
            <a:avLst>
              <a:gd name="adj" fmla="val 5161"/>
            </a:avLst>
          </a:prstGeom>
          <a:solidFill>
            <a:schemeClr val="tx2"/>
          </a:solidFill>
          <a:ln w="12700">
            <a:solidFill>
              <a:schemeClr val="tx2"/>
            </a:solidFill>
            <a:prstDash val="solid"/>
          </a:ln>
        </p:spPr>
      </p:sp>
      <p:sp>
        <p:nvSpPr>
          <p:cNvPr id="8" name="Nội dung phần dùng chung"/>
          <p:cNvSpPr txBox="1"/>
          <p:nvPr/>
        </p:nvSpPr>
        <p:spPr>
          <a:xfrm>
            <a:off x="4206240" y="1188720"/>
            <a:ext cx="4297680" cy="1234440"/>
          </a:xfrm>
          <a:prstGeom prst="rect">
            <a:avLst/>
          </a:prstGeom>
          <a:noFill/>
          <a:ln/>
        </p:spPr>
        <p:txBody>
          <a:bodyPr wrap="square" lIns="0" tIns="0" rIns="0" bIns="0" rtlCol="0" anchor="ctr"/>
          <a:lstStyle/>
          <a:p>
            <a:pPr indent="0" marL="0">
              <a:buNone/>
            </a:pPr>
            <a:r>
              <a:rPr lang="en-US" sz="1500" b="1" dirty="0">
                <a:solidFill>
                  <a:schemeClr val="bg1"/>
                </a:solidFill>
              </a:rPr>
              <a:t>Phần dùng chung của cả nhóm</a:t>
            </a:r>
            <a:endParaRPr lang="en-US" sz="1500" dirty="0"/>
          </a:p>
          <a:p>
            <a:pPr indent="0" marL="0">
              <a:buNone/>
            </a:pPr>
            <a:r>
              <a:rPr lang="en-US" sz="1200" dirty="0">
                <a:solidFill>
                  <a:schemeClr val="bg1"/>
                </a:solidFill>
              </a:rPr>
              <a:t>Kho dữ liệu DB · Đăng nhập · Phân quyền requireRole · Menu · Thông báo notify</a:t>
            </a:r>
            <a:endParaRPr lang="en-US" sz="1500" dirty="0"/>
          </a:p>
        </p:txBody>
      </p:sp>
      <p:sp>
        <p:nvSpPr>
          <p:cNvPr id="9" name="Mũi tên xuống"/>
          <p:cNvSpPr/>
          <p:nvPr/>
        </p:nvSpPr>
        <p:spPr>
          <a:xfrm>
            <a:off x="6172200" y="2560320"/>
            <a:ext cx="365760" cy="365760"/>
          </a:xfrm>
          <a:prstGeom prst="downArrow">
            <a:avLst/>
          </a:prstGeom>
          <a:solidFill>
            <a:schemeClr val="accent2"/>
          </a:solidFill>
          <a:ln w="12700">
            <a:solidFill>
              <a:schemeClr val="accent2"/>
            </a:solidFill>
            <a:prstDash val="solid"/>
          </a:ln>
        </p:spPr>
      </p:sp>
      <p:sp>
        <p:nvSpPr>
          <p:cNvPr id="10" name="Khung 21 trang"/>
          <p:cNvSpPr/>
          <p:nvPr/>
        </p:nvSpPr>
        <p:spPr>
          <a:xfrm>
            <a:off x="4023360" y="2971800"/>
            <a:ext cx="4663440" cy="1417320"/>
          </a:xfrm>
          <a:prstGeom prst="roundRect">
            <a:avLst>
              <a:gd name="adj" fmla="val 5161"/>
            </a:avLst>
          </a:prstGeom>
          <a:solidFill>
            <a:schemeClr val="bg2"/>
          </a:solidFill>
          <a:ln w="25400">
            <a:solidFill>
              <a:schemeClr val="accent1"/>
            </a:solidFill>
            <a:prstDash val="solid"/>
          </a:ln>
        </p:spPr>
      </p:sp>
      <p:sp>
        <p:nvSpPr>
          <p:cNvPr id="11" name="Nội dung 21 trang"/>
          <p:cNvSpPr txBox="1"/>
          <p:nvPr/>
        </p:nvSpPr>
        <p:spPr>
          <a:xfrm>
            <a:off x="4206240" y="3063240"/>
            <a:ext cx="4297680" cy="1234440"/>
          </a:xfrm>
          <a:prstGeom prst="rect">
            <a:avLst/>
          </a:prstGeom>
          <a:noFill/>
          <a:ln/>
        </p:spPr>
        <p:txBody>
          <a:bodyPr wrap="square" lIns="0" tIns="0" rIns="0" bIns="0" rtlCol="0" anchor="ctr"/>
          <a:lstStyle/>
          <a:p>
            <a:pPr indent="0" marL="0">
              <a:buNone/>
            </a:pPr>
            <a:r>
              <a:rPr lang="en-US" sz="1500" b="1" dirty="0">
                <a:solidFill>
                  <a:schemeClr val="tx2"/>
                </a:solidFill>
              </a:rPr>
              <a:t>21 trang (HTML + CSS + JS)</a:t>
            </a:r>
            <a:endParaRPr lang="en-US" sz="1500" dirty="0"/>
          </a:p>
          <a:p>
            <a:pPr indent="0" marL="0">
              <a:buNone/>
            </a:pPr>
            <a:r>
              <a:rPr lang="en-US" sz="1200" dirty="0">
                <a:solidFill>
                  <a:schemeClr val="tx1"/>
                </a:solidFill>
              </a:rPr>
              <a:t>Mỗi người làm phần của mình, cùng gọi hàm dùng chung</a:t>
            </a:r>
            <a:endParaRPr lang="en-US" sz="15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hanh màu Quang"/>
          <p:cNvSpPr/>
          <p:nvPr/>
        </p:nvSpPr>
        <p:spPr>
          <a:xfrm>
            <a:off x="0" y="0"/>
            <a:ext cx="9144000" cy="109728"/>
          </a:xfrm>
          <a:prstGeom prst="rect">
            <a:avLst/>
          </a:prstGeom>
          <a:solidFill>
            <a:schemeClr val="accent3"/>
          </a:solidFill>
          <a:ln w="12700">
            <a:solidFill>
              <a:schemeClr val="accent3"/>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Điều phối viên (3 trang)</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3"/>
          </a:solidFill>
          <a:ln w="12700">
            <a:solidFill>
              <a:schemeClr val="accent3"/>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bg1"/>
                </a:solidFill>
              </a:rPr>
              <a:t>Phần của Quang</a:t>
            </a:r>
            <a:endParaRPr lang="en-US" sz="1200" dirty="0"/>
          </a:p>
        </p:txBody>
      </p:sp>
      <p:sp>
        <p:nvSpPr>
          <p:cNvPr id="6" name="Bảng yêu cầu khung"/>
          <p:cNvSpPr/>
          <p:nvPr/>
        </p:nvSpPr>
        <p:spPr>
          <a:xfrm>
            <a:off x="457200" y="1051560"/>
            <a:ext cx="2651760" cy="3017520"/>
          </a:xfrm>
          <a:prstGeom prst="roundRect">
            <a:avLst>
              <a:gd name="adj" fmla="val 2759"/>
            </a:avLst>
          </a:prstGeom>
          <a:solidFill>
            <a:schemeClr val="bg2"/>
          </a:solidFill>
          <a:ln w="12700">
            <a:solidFill>
              <a:schemeClr val="bg2"/>
            </a:solidFill>
            <a:prstDash val="solid"/>
          </a:ln>
        </p:spPr>
      </p:sp>
      <p:sp>
        <p:nvSpPr>
          <p:cNvPr id="7" name="Bảng yêu cầu thanh màu"/>
          <p:cNvSpPr/>
          <p:nvPr/>
        </p:nvSpPr>
        <p:spPr>
          <a:xfrm>
            <a:off x="457200" y="1161288"/>
            <a:ext cx="64008" cy="411480"/>
          </a:xfrm>
          <a:prstGeom prst="rect">
            <a:avLst/>
          </a:prstGeom>
          <a:solidFill>
            <a:schemeClr val="accent3"/>
          </a:solidFill>
          <a:ln w="12700">
            <a:solidFill>
              <a:schemeClr val="accent3"/>
            </a:solidFill>
            <a:prstDash val="solid"/>
          </a:ln>
        </p:spPr>
      </p:sp>
      <p:sp>
        <p:nvSpPr>
          <p:cNvPr id="8" name="Bảng yêu cầu tiêu đề"/>
          <p:cNvSpPr txBox="1"/>
          <p:nvPr/>
        </p:nvSpPr>
        <p:spPr>
          <a:xfrm>
            <a:off x="64008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Bảng yêu cầu</a:t>
            </a:r>
            <a:endParaRPr lang="en-US" sz="1400" dirty="0"/>
          </a:p>
        </p:txBody>
      </p:sp>
      <p:sp>
        <p:nvSpPr>
          <p:cNvPr id="9" name="Bảng yêu cầu tên file"/>
          <p:cNvSpPr txBox="1"/>
          <p:nvPr/>
        </p:nvSpPr>
        <p:spPr>
          <a:xfrm>
            <a:off x="64008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coordinator-request-board.html</a:t>
            </a:r>
            <a:endParaRPr lang="en-US" sz="800" dirty="0"/>
          </a:p>
        </p:txBody>
      </p:sp>
      <p:sp>
        <p:nvSpPr>
          <p:cNvPr id="10" name="Bảng yêu cầu nội dung"/>
          <p:cNvSpPr txBox="1"/>
          <p:nvPr/>
        </p:nvSpPr>
        <p:spPr>
          <a:xfrm>
            <a:off x="64008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Lọc yêu cầu theo trạng thái</a:t>
            </a:r>
            <a:endParaRPr lang="en-US" sz="1300" dirty="0"/>
          </a:p>
          <a:p>
            <a:pPr marL="342900" indent="-342900">
              <a:spcAft>
                <a:spcPts val="500"/>
              </a:spcAft>
              <a:buSzPct val="100000"/>
              <a:buChar char="•"/>
            </a:pPr>
            <a:r>
              <a:rPr lang="en-US" sz="1300" dirty="0">
                <a:solidFill>
                  <a:schemeClr val="tx1"/>
                </a:solidFill>
              </a:rPr>
              <a:t>Chọn nhân viên rồi bấm Giao</a:t>
            </a:r>
            <a:endParaRPr lang="en-US" sz="1300" dirty="0"/>
          </a:p>
          <a:p>
            <a:pPr marL="342900" indent="-342900">
              <a:spcAft>
                <a:spcPts val="500"/>
              </a:spcAft>
              <a:buSzPct val="100000"/>
              <a:buChar char="•"/>
            </a:pPr>
            <a:r>
              <a:rPr lang="en-US" sz="1300" dirty="0">
                <a:solidFill>
                  <a:schemeClr val="tx1"/>
                </a:solidFill>
              </a:rPr>
              <a:t>Tự đổi trạng thái và lưu dữ liệu</a:t>
            </a:r>
            <a:endParaRPr lang="en-US" sz="1300" dirty="0"/>
          </a:p>
          <a:p>
            <a:pPr marL="342900" indent="-342900">
              <a:spcAft>
                <a:spcPts val="500"/>
              </a:spcAft>
              <a:buSzPct val="100000"/>
              <a:buChar char="•"/>
            </a:pPr>
            <a:r>
              <a:rPr lang="en-US" sz="1300" dirty="0">
                <a:solidFill>
                  <a:schemeClr val="tx1"/>
                </a:solidFill>
              </a:rPr>
              <a:t>Báo cho nhân viên và người dân</a:t>
            </a:r>
            <a:endParaRPr lang="en-US" sz="1300" dirty="0"/>
          </a:p>
        </p:txBody>
      </p:sp>
      <p:sp>
        <p:nvSpPr>
          <p:cNvPr id="11" name="Quản lý điểm thu gom khung"/>
          <p:cNvSpPr/>
          <p:nvPr/>
        </p:nvSpPr>
        <p:spPr>
          <a:xfrm>
            <a:off x="3246120" y="1051560"/>
            <a:ext cx="2651760" cy="3017520"/>
          </a:xfrm>
          <a:prstGeom prst="roundRect">
            <a:avLst>
              <a:gd name="adj" fmla="val 2759"/>
            </a:avLst>
          </a:prstGeom>
          <a:solidFill>
            <a:schemeClr val="bg2"/>
          </a:solidFill>
          <a:ln w="12700">
            <a:solidFill>
              <a:schemeClr val="bg2"/>
            </a:solidFill>
            <a:prstDash val="solid"/>
          </a:ln>
        </p:spPr>
      </p:sp>
      <p:sp>
        <p:nvSpPr>
          <p:cNvPr id="12" name="Quản lý điểm thu gom thanh màu"/>
          <p:cNvSpPr/>
          <p:nvPr/>
        </p:nvSpPr>
        <p:spPr>
          <a:xfrm>
            <a:off x="3246120" y="1161288"/>
            <a:ext cx="64008" cy="411480"/>
          </a:xfrm>
          <a:prstGeom prst="rect">
            <a:avLst/>
          </a:prstGeom>
          <a:solidFill>
            <a:schemeClr val="accent3"/>
          </a:solidFill>
          <a:ln w="12700">
            <a:solidFill>
              <a:schemeClr val="accent3"/>
            </a:solidFill>
            <a:prstDash val="solid"/>
          </a:ln>
        </p:spPr>
      </p:sp>
      <p:sp>
        <p:nvSpPr>
          <p:cNvPr id="13" name="Quản lý điểm thu gom tiêu đề"/>
          <p:cNvSpPr txBox="1"/>
          <p:nvPr/>
        </p:nvSpPr>
        <p:spPr>
          <a:xfrm>
            <a:off x="342900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Quản lý điểm thu gom</a:t>
            </a:r>
            <a:endParaRPr lang="en-US" sz="1400" dirty="0"/>
          </a:p>
        </p:txBody>
      </p:sp>
      <p:sp>
        <p:nvSpPr>
          <p:cNvPr id="14" name="Quản lý điểm thu gom tên file"/>
          <p:cNvSpPr txBox="1"/>
          <p:nvPr/>
        </p:nvSpPr>
        <p:spPr>
          <a:xfrm>
            <a:off x="342900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coordinator-point-management.html</a:t>
            </a:r>
            <a:endParaRPr lang="en-US" sz="800" dirty="0"/>
          </a:p>
        </p:txBody>
      </p:sp>
      <p:sp>
        <p:nvSpPr>
          <p:cNvPr id="15" name="Quản lý điểm thu gom nội dung"/>
          <p:cNvSpPr txBox="1"/>
          <p:nvPr/>
        </p:nvSpPr>
        <p:spPr>
          <a:xfrm>
            <a:off x="342900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Thêm điểm: tên, địa chỉ, loại rác nhận</a:t>
            </a:r>
            <a:endParaRPr lang="en-US" sz="1300" dirty="0"/>
          </a:p>
          <a:p>
            <a:pPr marL="342900" indent="-342900">
              <a:spcAft>
                <a:spcPts val="500"/>
              </a:spcAft>
              <a:buSzPct val="100000"/>
              <a:buChar char="•"/>
            </a:pPr>
            <a:r>
              <a:rPr lang="en-US" sz="1300" dirty="0">
                <a:solidFill>
                  <a:schemeClr val="tx1"/>
                </a:solidFill>
              </a:rPr>
              <a:t>Xóa điểm có hộp thoại xác nhận</a:t>
            </a:r>
            <a:endParaRPr lang="en-US" sz="1300" dirty="0"/>
          </a:p>
          <a:p>
            <a:pPr marL="342900" indent="-342900">
              <a:spcAft>
                <a:spcPts val="500"/>
              </a:spcAft>
              <a:buSzPct val="100000"/>
              <a:buChar char="•"/>
            </a:pPr>
            <a:r>
              <a:rPr lang="en-US" sz="1300" dirty="0">
                <a:solidFill>
                  <a:schemeClr val="tx1"/>
                </a:solidFill>
              </a:rPr>
              <a:t>Báo lỗi khi bỏ trống ô nhập</a:t>
            </a:r>
            <a:endParaRPr lang="en-US" sz="1300" dirty="0"/>
          </a:p>
          <a:p>
            <a:pPr marL="342900" indent="-342900">
              <a:spcAft>
                <a:spcPts val="500"/>
              </a:spcAft>
              <a:buSzPct val="100000"/>
              <a:buChar char="•"/>
            </a:pPr>
            <a:r>
              <a:rPr lang="en-US" sz="1300" dirty="0">
                <a:solidFill>
                  <a:schemeClr val="tx1"/>
                </a:solidFill>
              </a:rPr>
              <a:t>Điểm mới hiện ở trang người dân</a:t>
            </a:r>
            <a:endParaRPr lang="en-US" sz="1300" dirty="0"/>
          </a:p>
        </p:txBody>
      </p:sp>
      <p:sp>
        <p:nvSpPr>
          <p:cNvPr id="16" name="Phân tích khung"/>
          <p:cNvSpPr/>
          <p:nvPr/>
        </p:nvSpPr>
        <p:spPr>
          <a:xfrm>
            <a:off x="6035040" y="1051560"/>
            <a:ext cx="2651760" cy="3017520"/>
          </a:xfrm>
          <a:prstGeom prst="roundRect">
            <a:avLst>
              <a:gd name="adj" fmla="val 2759"/>
            </a:avLst>
          </a:prstGeom>
          <a:solidFill>
            <a:schemeClr val="bg2"/>
          </a:solidFill>
          <a:ln w="12700">
            <a:solidFill>
              <a:schemeClr val="bg2"/>
            </a:solidFill>
            <a:prstDash val="solid"/>
          </a:ln>
        </p:spPr>
      </p:sp>
      <p:sp>
        <p:nvSpPr>
          <p:cNvPr id="17" name="Phân tích thanh màu"/>
          <p:cNvSpPr/>
          <p:nvPr/>
        </p:nvSpPr>
        <p:spPr>
          <a:xfrm>
            <a:off x="6035040" y="1161288"/>
            <a:ext cx="64008" cy="411480"/>
          </a:xfrm>
          <a:prstGeom prst="rect">
            <a:avLst/>
          </a:prstGeom>
          <a:solidFill>
            <a:schemeClr val="accent3"/>
          </a:solidFill>
          <a:ln w="12700">
            <a:solidFill>
              <a:schemeClr val="accent3"/>
            </a:solidFill>
            <a:prstDash val="solid"/>
          </a:ln>
        </p:spPr>
      </p:sp>
      <p:sp>
        <p:nvSpPr>
          <p:cNvPr id="18" name="Phân tích tiêu đề"/>
          <p:cNvSpPr txBox="1"/>
          <p:nvPr/>
        </p:nvSpPr>
        <p:spPr>
          <a:xfrm>
            <a:off x="621792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Phân tích</a:t>
            </a:r>
            <a:endParaRPr lang="en-US" sz="1400" dirty="0"/>
          </a:p>
        </p:txBody>
      </p:sp>
      <p:sp>
        <p:nvSpPr>
          <p:cNvPr id="19" name="Phân tích tên file"/>
          <p:cNvSpPr txBox="1"/>
          <p:nvPr/>
        </p:nvSpPr>
        <p:spPr>
          <a:xfrm>
            <a:off x="621792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coordinator-analytics.html</a:t>
            </a:r>
            <a:endParaRPr lang="en-US" sz="800" dirty="0"/>
          </a:p>
        </p:txBody>
      </p:sp>
      <p:sp>
        <p:nvSpPr>
          <p:cNvPr id="20" name="Phân tích nội dung"/>
          <p:cNvSpPr txBox="1"/>
          <p:nvPr/>
        </p:nvSpPr>
        <p:spPr>
          <a:xfrm>
            <a:off x="621792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Tổng yêu cầu, số đã hoàn thành</a:t>
            </a:r>
            <a:endParaRPr lang="en-US" sz="1300" dirty="0"/>
          </a:p>
          <a:p>
            <a:pPr marL="342900" indent="-342900">
              <a:spcAft>
                <a:spcPts val="500"/>
              </a:spcAft>
              <a:buSzPct val="100000"/>
              <a:buChar char="•"/>
            </a:pPr>
            <a:r>
              <a:rPr lang="en-US" sz="1300" dirty="0">
                <a:solidFill>
                  <a:schemeClr val="tx1"/>
                </a:solidFill>
              </a:rPr>
              <a:t>Tính phần trăm hiệu suất</a:t>
            </a:r>
            <a:endParaRPr lang="en-US" sz="1300" dirty="0"/>
          </a:p>
          <a:p>
            <a:pPr marL="342900" indent="-342900">
              <a:spcAft>
                <a:spcPts val="500"/>
              </a:spcAft>
              <a:buSzPct val="100000"/>
              <a:buChar char="•"/>
            </a:pPr>
            <a:r>
              <a:rPr lang="en-US" sz="1300" dirty="0">
                <a:solidFill>
                  <a:schemeClr val="tx1"/>
                </a:solidFill>
              </a:rPr>
              <a:t>Thanh khối lượng theo loại rác</a:t>
            </a:r>
            <a:endParaRPr lang="en-US" sz="1300" dirty="0"/>
          </a:p>
          <a:p>
            <a:pPr marL="342900" indent="-342900">
              <a:spcAft>
                <a:spcPts val="500"/>
              </a:spcAft>
              <a:buSzPct val="100000"/>
              <a:buChar char="•"/>
            </a:pPr>
            <a:r>
              <a:rPr lang="en-US" sz="1300" dirty="0">
                <a:solidFill>
                  <a:schemeClr val="tx1"/>
                </a:solidFill>
              </a:rPr>
              <a:t>Số liệu tính từ yêu cầu thật</a:t>
            </a:r>
            <a:endParaRPr lang="en-US" sz="1300" dirty="0"/>
          </a:p>
        </p:txBody>
      </p:sp>
      <p:sp>
        <p:nvSpPr>
          <p:cNvPr id="21"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2"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mảng đối tượng · vòng for · push, splice · confirm · Math.round tính phần trăm</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hanh màu Quang"/>
          <p:cNvSpPr/>
          <p:nvPr/>
        </p:nvSpPr>
        <p:spPr>
          <a:xfrm>
            <a:off x="0" y="0"/>
            <a:ext cx="9144000" cy="109728"/>
          </a:xfrm>
          <a:prstGeom prst="rect">
            <a:avLst/>
          </a:prstGeom>
          <a:solidFill>
            <a:schemeClr val="accent3"/>
          </a:solidFill>
          <a:ln w="12700">
            <a:solidFill>
              <a:schemeClr val="accent3"/>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Quản trị viên và trang 403</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3"/>
          </a:solidFill>
          <a:ln w="12700">
            <a:solidFill>
              <a:schemeClr val="accent3"/>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bg1"/>
                </a:solidFill>
              </a:rPr>
              <a:t>Phần của Quang</a:t>
            </a:r>
            <a:endParaRPr lang="en-US" sz="1200" dirty="0"/>
          </a:p>
        </p:txBody>
      </p:sp>
      <p:sp>
        <p:nvSpPr>
          <p:cNvPr id="6" name="Dashboard khung"/>
          <p:cNvSpPr/>
          <p:nvPr/>
        </p:nvSpPr>
        <p:spPr>
          <a:xfrm>
            <a:off x="457200" y="1051560"/>
            <a:ext cx="1954530" cy="3017520"/>
          </a:xfrm>
          <a:prstGeom prst="roundRect">
            <a:avLst>
              <a:gd name="adj" fmla="val 3743"/>
            </a:avLst>
          </a:prstGeom>
          <a:solidFill>
            <a:schemeClr val="bg2"/>
          </a:solidFill>
          <a:ln w="12700">
            <a:solidFill>
              <a:schemeClr val="bg2"/>
            </a:solidFill>
            <a:prstDash val="solid"/>
          </a:ln>
        </p:spPr>
      </p:sp>
      <p:sp>
        <p:nvSpPr>
          <p:cNvPr id="7" name="Dashboard thanh màu"/>
          <p:cNvSpPr/>
          <p:nvPr/>
        </p:nvSpPr>
        <p:spPr>
          <a:xfrm>
            <a:off x="457200" y="1161288"/>
            <a:ext cx="64008" cy="411480"/>
          </a:xfrm>
          <a:prstGeom prst="rect">
            <a:avLst/>
          </a:prstGeom>
          <a:solidFill>
            <a:schemeClr val="accent3"/>
          </a:solidFill>
          <a:ln w="12700">
            <a:solidFill>
              <a:schemeClr val="accent3"/>
            </a:solidFill>
            <a:prstDash val="solid"/>
          </a:ln>
        </p:spPr>
      </p:sp>
      <p:sp>
        <p:nvSpPr>
          <p:cNvPr id="8" name="Dashboard tiêu đề"/>
          <p:cNvSpPr txBox="1"/>
          <p:nvPr/>
        </p:nvSpPr>
        <p:spPr>
          <a:xfrm>
            <a:off x="64008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Dashboard</a:t>
            </a:r>
            <a:endParaRPr lang="en-US" sz="1400" dirty="0"/>
          </a:p>
        </p:txBody>
      </p:sp>
      <p:sp>
        <p:nvSpPr>
          <p:cNvPr id="9" name="Dashboard tên file"/>
          <p:cNvSpPr txBox="1"/>
          <p:nvPr/>
        </p:nvSpPr>
        <p:spPr>
          <a:xfrm>
            <a:off x="64008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admin-dashboard.html</a:t>
            </a:r>
            <a:endParaRPr lang="en-US" sz="800" dirty="0"/>
          </a:p>
        </p:txBody>
      </p:sp>
      <p:sp>
        <p:nvSpPr>
          <p:cNvPr id="10" name="Dashboard nội dung"/>
          <p:cNvSpPr txBox="1"/>
          <p:nvPr/>
        </p:nvSpPr>
        <p:spPr>
          <a:xfrm>
            <a:off x="64008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4 thẻ: người dùng, yêu cầu, điểm, loại rác</a:t>
            </a:r>
            <a:endParaRPr lang="en-US" sz="1200" dirty="0"/>
          </a:p>
          <a:p>
            <a:pPr marL="342900" indent="-342900">
              <a:spcAft>
                <a:spcPts val="500"/>
              </a:spcAft>
              <a:buSzPct val="100000"/>
              <a:buChar char="•"/>
            </a:pPr>
            <a:r>
              <a:rPr lang="en-US" sz="1200" dirty="0">
                <a:solidFill>
                  <a:schemeClr val="tx1"/>
                </a:solidFill>
              </a:rPr>
              <a:t>Số liệu lấy từ kho dữ liệu chung</a:t>
            </a:r>
            <a:endParaRPr lang="en-US" sz="1200" dirty="0"/>
          </a:p>
          <a:p>
            <a:pPr marL="342900" indent="-342900">
              <a:spcAft>
                <a:spcPts val="500"/>
              </a:spcAft>
              <a:buSzPct val="100000"/>
              <a:buChar char="•"/>
            </a:pPr>
            <a:r>
              <a:rPr lang="en-US" sz="1200" dirty="0">
                <a:solidFill>
                  <a:schemeClr val="tx1"/>
                </a:solidFill>
              </a:rPr>
              <a:t>Danh sách hoạt động gần đây</a:t>
            </a:r>
            <a:endParaRPr lang="en-US" sz="1200" dirty="0"/>
          </a:p>
        </p:txBody>
      </p:sp>
      <p:sp>
        <p:nvSpPr>
          <p:cNvPr id="11" name="Quản lý loại rác khung"/>
          <p:cNvSpPr/>
          <p:nvPr/>
        </p:nvSpPr>
        <p:spPr>
          <a:xfrm>
            <a:off x="2548890" y="1051560"/>
            <a:ext cx="1954530" cy="3017520"/>
          </a:xfrm>
          <a:prstGeom prst="roundRect">
            <a:avLst>
              <a:gd name="adj" fmla="val 3743"/>
            </a:avLst>
          </a:prstGeom>
          <a:solidFill>
            <a:schemeClr val="bg2"/>
          </a:solidFill>
          <a:ln w="12700">
            <a:solidFill>
              <a:schemeClr val="bg2"/>
            </a:solidFill>
            <a:prstDash val="solid"/>
          </a:ln>
        </p:spPr>
      </p:sp>
      <p:sp>
        <p:nvSpPr>
          <p:cNvPr id="12" name="Quản lý loại rác thanh màu"/>
          <p:cNvSpPr/>
          <p:nvPr/>
        </p:nvSpPr>
        <p:spPr>
          <a:xfrm>
            <a:off x="2548890" y="1161288"/>
            <a:ext cx="64008" cy="411480"/>
          </a:xfrm>
          <a:prstGeom prst="rect">
            <a:avLst/>
          </a:prstGeom>
          <a:solidFill>
            <a:schemeClr val="accent3"/>
          </a:solidFill>
          <a:ln w="12700">
            <a:solidFill>
              <a:schemeClr val="accent3"/>
            </a:solidFill>
            <a:prstDash val="solid"/>
          </a:ln>
        </p:spPr>
      </p:sp>
      <p:sp>
        <p:nvSpPr>
          <p:cNvPr id="13" name="Quản lý loại rác tiêu đề"/>
          <p:cNvSpPr txBox="1"/>
          <p:nvPr/>
        </p:nvSpPr>
        <p:spPr>
          <a:xfrm>
            <a:off x="273177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Quản lý loại rác</a:t>
            </a:r>
            <a:endParaRPr lang="en-US" sz="1400" dirty="0"/>
          </a:p>
        </p:txBody>
      </p:sp>
      <p:sp>
        <p:nvSpPr>
          <p:cNvPr id="14" name="Quản lý loại rác tên file"/>
          <p:cNvSpPr txBox="1"/>
          <p:nvPr/>
        </p:nvSpPr>
        <p:spPr>
          <a:xfrm>
            <a:off x="273177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admin-waste-type-management.html</a:t>
            </a:r>
            <a:endParaRPr lang="en-US" sz="800" dirty="0"/>
          </a:p>
        </p:txBody>
      </p:sp>
      <p:sp>
        <p:nvSpPr>
          <p:cNvPr id="15" name="Quản lý loại rác nội dung"/>
          <p:cNvSpPr txBox="1"/>
          <p:nvPr/>
        </p:nvSpPr>
        <p:spPr>
          <a:xfrm>
            <a:off x="273177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Thêm loại rác: tên và mô tả</a:t>
            </a:r>
            <a:endParaRPr lang="en-US" sz="1200" dirty="0"/>
          </a:p>
          <a:p>
            <a:pPr marL="342900" indent="-342900">
              <a:spcAft>
                <a:spcPts val="500"/>
              </a:spcAft>
              <a:buSzPct val="100000"/>
              <a:buChar char="•"/>
            </a:pPr>
            <a:r>
              <a:rPr lang="en-US" sz="1200" dirty="0">
                <a:solidFill>
                  <a:schemeClr val="tx1"/>
                </a:solidFill>
              </a:rPr>
              <a:t>Xóa loại có xác nhận</a:t>
            </a:r>
            <a:endParaRPr lang="en-US" sz="1200" dirty="0"/>
          </a:p>
          <a:p>
            <a:pPr marL="342900" indent="-342900">
              <a:spcAft>
                <a:spcPts val="500"/>
              </a:spcAft>
              <a:buSzPct val="100000"/>
              <a:buChar char="•"/>
            </a:pPr>
            <a:r>
              <a:rPr lang="en-US" sz="1200" dirty="0">
                <a:solidFill>
                  <a:schemeClr val="tx1"/>
                </a:solidFill>
              </a:rPr>
              <a:t>Loại mới hiện ở trang hướng dẫn và form gửi yêu cầu</a:t>
            </a:r>
            <a:endParaRPr lang="en-US" sz="1200" dirty="0"/>
          </a:p>
        </p:txBody>
      </p:sp>
      <p:sp>
        <p:nvSpPr>
          <p:cNvPr id="16" name="Quản lý người dùng khung"/>
          <p:cNvSpPr/>
          <p:nvPr/>
        </p:nvSpPr>
        <p:spPr>
          <a:xfrm>
            <a:off x="4640580" y="1051560"/>
            <a:ext cx="1954530" cy="3017520"/>
          </a:xfrm>
          <a:prstGeom prst="roundRect">
            <a:avLst>
              <a:gd name="adj" fmla="val 3743"/>
            </a:avLst>
          </a:prstGeom>
          <a:solidFill>
            <a:schemeClr val="bg2"/>
          </a:solidFill>
          <a:ln w="12700">
            <a:solidFill>
              <a:schemeClr val="bg2"/>
            </a:solidFill>
            <a:prstDash val="solid"/>
          </a:ln>
        </p:spPr>
      </p:sp>
      <p:sp>
        <p:nvSpPr>
          <p:cNvPr id="17" name="Quản lý người dùng thanh màu"/>
          <p:cNvSpPr/>
          <p:nvPr/>
        </p:nvSpPr>
        <p:spPr>
          <a:xfrm>
            <a:off x="4640580" y="1161288"/>
            <a:ext cx="64008" cy="411480"/>
          </a:xfrm>
          <a:prstGeom prst="rect">
            <a:avLst/>
          </a:prstGeom>
          <a:solidFill>
            <a:schemeClr val="accent3"/>
          </a:solidFill>
          <a:ln w="12700">
            <a:solidFill>
              <a:schemeClr val="accent3"/>
            </a:solidFill>
            <a:prstDash val="solid"/>
          </a:ln>
        </p:spPr>
      </p:sp>
      <p:sp>
        <p:nvSpPr>
          <p:cNvPr id="18" name="Quản lý người dùng tiêu đề"/>
          <p:cNvSpPr txBox="1"/>
          <p:nvPr/>
        </p:nvSpPr>
        <p:spPr>
          <a:xfrm>
            <a:off x="482346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Quản lý người dùng</a:t>
            </a:r>
            <a:endParaRPr lang="en-US" sz="1400" dirty="0"/>
          </a:p>
        </p:txBody>
      </p:sp>
      <p:sp>
        <p:nvSpPr>
          <p:cNvPr id="19" name="Quản lý người dùng tên file"/>
          <p:cNvSpPr txBox="1"/>
          <p:nvPr/>
        </p:nvSpPr>
        <p:spPr>
          <a:xfrm>
            <a:off x="482346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admin-user-management.html</a:t>
            </a:r>
            <a:endParaRPr lang="en-US" sz="800" dirty="0"/>
          </a:p>
        </p:txBody>
      </p:sp>
      <p:sp>
        <p:nvSpPr>
          <p:cNvPr id="20" name="Quản lý người dùng nội dung"/>
          <p:cNvSpPr txBox="1"/>
          <p:nvPr/>
        </p:nvSpPr>
        <p:spPr>
          <a:xfrm>
            <a:off x="482346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Tìm tài khoản theo tên</a:t>
            </a:r>
            <a:endParaRPr lang="en-US" sz="1200" dirty="0"/>
          </a:p>
          <a:p>
            <a:pPr marL="342900" indent="-342900">
              <a:spcAft>
                <a:spcPts val="500"/>
              </a:spcAft>
              <a:buSzPct val="100000"/>
              <a:buChar char="•"/>
            </a:pPr>
            <a:r>
              <a:rPr lang="en-US" sz="1200" dirty="0">
                <a:solidFill>
                  <a:schemeClr val="tx1"/>
                </a:solidFill>
              </a:rPr>
              <a:t>Đổi vai trò bằng ô chọn</a:t>
            </a:r>
            <a:endParaRPr lang="en-US" sz="1200" dirty="0"/>
          </a:p>
          <a:p>
            <a:pPr marL="342900" indent="-342900">
              <a:spcAft>
                <a:spcPts val="500"/>
              </a:spcAft>
              <a:buSzPct val="100000"/>
              <a:buChar char="•"/>
            </a:pPr>
            <a:r>
              <a:rPr lang="en-US" sz="1200" dirty="0">
                <a:solidFill>
                  <a:schemeClr val="tx1"/>
                </a:solidFill>
              </a:rPr>
              <a:t>Khóa hoặc mở khóa tài khoản</a:t>
            </a:r>
            <a:endParaRPr lang="en-US" sz="1200" dirty="0"/>
          </a:p>
          <a:p>
            <a:pPr marL="342900" indent="-342900">
              <a:spcAft>
                <a:spcPts val="500"/>
              </a:spcAft>
              <a:buSzPct val="100000"/>
              <a:buChar char="•"/>
            </a:pPr>
            <a:r>
              <a:rPr lang="en-US" sz="1200" dirty="0">
                <a:solidFill>
                  <a:schemeClr val="tx1"/>
                </a:solidFill>
              </a:rPr>
              <a:t>Tài khoản bị khóa không đăng nhập được</a:t>
            </a:r>
            <a:endParaRPr lang="en-US" sz="1200" dirty="0"/>
          </a:p>
        </p:txBody>
      </p:sp>
      <p:sp>
        <p:nvSpPr>
          <p:cNvPr id="21" name="Trang 403 khung"/>
          <p:cNvSpPr/>
          <p:nvPr/>
        </p:nvSpPr>
        <p:spPr>
          <a:xfrm>
            <a:off x="6732270" y="1051560"/>
            <a:ext cx="1954530" cy="3017520"/>
          </a:xfrm>
          <a:prstGeom prst="roundRect">
            <a:avLst>
              <a:gd name="adj" fmla="val 3743"/>
            </a:avLst>
          </a:prstGeom>
          <a:solidFill>
            <a:schemeClr val="bg2"/>
          </a:solidFill>
          <a:ln w="12700">
            <a:solidFill>
              <a:schemeClr val="bg2"/>
            </a:solidFill>
            <a:prstDash val="solid"/>
          </a:ln>
        </p:spPr>
      </p:sp>
      <p:sp>
        <p:nvSpPr>
          <p:cNvPr id="22" name="Trang 403 thanh màu"/>
          <p:cNvSpPr/>
          <p:nvPr/>
        </p:nvSpPr>
        <p:spPr>
          <a:xfrm>
            <a:off x="6732270" y="1161288"/>
            <a:ext cx="64008" cy="411480"/>
          </a:xfrm>
          <a:prstGeom prst="rect">
            <a:avLst/>
          </a:prstGeom>
          <a:solidFill>
            <a:schemeClr val="accent3"/>
          </a:solidFill>
          <a:ln w="12700">
            <a:solidFill>
              <a:schemeClr val="accent3"/>
            </a:solidFill>
            <a:prstDash val="solid"/>
          </a:ln>
        </p:spPr>
      </p:sp>
      <p:sp>
        <p:nvSpPr>
          <p:cNvPr id="23" name="Trang 403 tiêu đề"/>
          <p:cNvSpPr txBox="1"/>
          <p:nvPr/>
        </p:nvSpPr>
        <p:spPr>
          <a:xfrm>
            <a:off x="691515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Trang 403</a:t>
            </a:r>
            <a:endParaRPr lang="en-US" sz="1400" dirty="0"/>
          </a:p>
        </p:txBody>
      </p:sp>
      <p:sp>
        <p:nvSpPr>
          <p:cNvPr id="24" name="Trang 403 tên file"/>
          <p:cNvSpPr txBox="1"/>
          <p:nvPr/>
        </p:nvSpPr>
        <p:spPr>
          <a:xfrm>
            <a:off x="691515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403.html</a:t>
            </a:r>
            <a:endParaRPr lang="en-US" sz="800" dirty="0"/>
          </a:p>
        </p:txBody>
      </p:sp>
      <p:sp>
        <p:nvSpPr>
          <p:cNvPr id="25" name="Trang 403 nội dung"/>
          <p:cNvSpPr txBox="1"/>
          <p:nvPr/>
        </p:nvSpPr>
        <p:spPr>
          <a:xfrm>
            <a:off x="691515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Hiện khi sai vai trò</a:t>
            </a:r>
            <a:endParaRPr lang="en-US" sz="1200" dirty="0"/>
          </a:p>
          <a:p>
            <a:pPr marL="342900" indent="-342900">
              <a:spcAft>
                <a:spcPts val="500"/>
              </a:spcAft>
              <a:buSzPct val="100000"/>
              <a:buChar char="•"/>
            </a:pPr>
            <a:r>
              <a:rPr lang="en-US" sz="1200" dirty="0">
                <a:solidFill>
                  <a:schemeClr val="tx1"/>
                </a:solidFill>
              </a:rPr>
              <a:t>Được gọi từ requireRole</a:t>
            </a:r>
            <a:endParaRPr lang="en-US" sz="1200" dirty="0"/>
          </a:p>
          <a:p>
            <a:pPr marL="342900" indent="-342900">
              <a:spcAft>
                <a:spcPts val="500"/>
              </a:spcAft>
              <a:buSzPct val="100000"/>
              <a:buChar char="•"/>
            </a:pPr>
            <a:r>
              <a:rPr lang="en-US" sz="1200" dirty="0">
                <a:solidFill>
                  <a:schemeClr val="tx1"/>
                </a:solidFill>
              </a:rPr>
              <a:t>Nút Quay lại và Về trang chủ</a:t>
            </a:r>
            <a:endParaRPr lang="en-US" sz="1200" dirty="0"/>
          </a:p>
        </p:txBody>
      </p:sp>
      <p:sp>
        <p:nvSpPr>
          <p:cNvPr id="26"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7"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requireRole chuyển sang 403 · indexOf tìm kiếm · đảo true/false để khóa tài khoản</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hanh màu Cảnh"/>
          <p:cNvSpPr/>
          <p:nvPr/>
        </p:nvSpPr>
        <p:spPr>
          <a:xfrm>
            <a:off x="0" y="0"/>
            <a:ext cx="9144000" cy="109728"/>
          </a:xfrm>
          <a:prstGeom prst="rect">
            <a:avLst/>
          </a:prstGeom>
          <a:solidFill>
            <a:schemeClr val="accent1"/>
          </a:solidFill>
          <a:ln w="12700">
            <a:solidFill>
              <a:schemeClr val="accent1"/>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Trang chủ và tài khoản</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1"/>
          </a:solidFill>
          <a:ln w="12700">
            <a:solidFill>
              <a:schemeClr val="accent1"/>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bg1"/>
                </a:solidFill>
              </a:rPr>
              <a:t>Phần của Cảnh</a:t>
            </a:r>
            <a:endParaRPr lang="en-US" sz="1200" dirty="0"/>
          </a:p>
        </p:txBody>
      </p:sp>
      <p:sp>
        <p:nvSpPr>
          <p:cNvPr id="6" name="Trang chủ khung"/>
          <p:cNvSpPr/>
          <p:nvPr/>
        </p:nvSpPr>
        <p:spPr>
          <a:xfrm>
            <a:off x="457200" y="1051560"/>
            <a:ext cx="1954530" cy="3017520"/>
          </a:xfrm>
          <a:prstGeom prst="roundRect">
            <a:avLst>
              <a:gd name="adj" fmla="val 3743"/>
            </a:avLst>
          </a:prstGeom>
          <a:solidFill>
            <a:schemeClr val="bg2"/>
          </a:solidFill>
          <a:ln w="12700">
            <a:solidFill>
              <a:schemeClr val="bg2"/>
            </a:solidFill>
            <a:prstDash val="solid"/>
          </a:ln>
        </p:spPr>
      </p:sp>
      <p:sp>
        <p:nvSpPr>
          <p:cNvPr id="7" name="Trang chủ thanh màu"/>
          <p:cNvSpPr/>
          <p:nvPr/>
        </p:nvSpPr>
        <p:spPr>
          <a:xfrm>
            <a:off x="457200" y="1161288"/>
            <a:ext cx="64008" cy="411480"/>
          </a:xfrm>
          <a:prstGeom prst="rect">
            <a:avLst/>
          </a:prstGeom>
          <a:solidFill>
            <a:schemeClr val="accent1"/>
          </a:solidFill>
          <a:ln w="12700">
            <a:solidFill>
              <a:schemeClr val="accent1"/>
            </a:solidFill>
            <a:prstDash val="solid"/>
          </a:ln>
        </p:spPr>
      </p:sp>
      <p:sp>
        <p:nvSpPr>
          <p:cNvPr id="8" name="Trang chủ tiêu đề"/>
          <p:cNvSpPr txBox="1"/>
          <p:nvPr/>
        </p:nvSpPr>
        <p:spPr>
          <a:xfrm>
            <a:off x="64008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Trang chủ</a:t>
            </a:r>
            <a:endParaRPr lang="en-US" sz="1400" dirty="0"/>
          </a:p>
        </p:txBody>
      </p:sp>
      <p:sp>
        <p:nvSpPr>
          <p:cNvPr id="9" name="Trang chủ tên file"/>
          <p:cNvSpPr txBox="1"/>
          <p:nvPr/>
        </p:nvSpPr>
        <p:spPr>
          <a:xfrm>
            <a:off x="64008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index.html</a:t>
            </a:r>
            <a:endParaRPr lang="en-US" sz="800" dirty="0"/>
          </a:p>
        </p:txBody>
      </p:sp>
      <p:sp>
        <p:nvSpPr>
          <p:cNvPr id="10" name="Trang chủ nội dung"/>
          <p:cNvSpPr txBox="1"/>
          <p:nvPr/>
        </p:nvSpPr>
        <p:spPr>
          <a:xfrm>
            <a:off x="64008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Giới thiệu hệ thống, 3 thẻ tính năng</a:t>
            </a:r>
            <a:endParaRPr lang="en-US" sz="1200" dirty="0"/>
          </a:p>
          <a:p>
            <a:pPr marL="342900" indent="-342900">
              <a:spcAft>
                <a:spcPts val="500"/>
              </a:spcAft>
              <a:buSzPct val="100000"/>
              <a:buChar char="•"/>
            </a:pPr>
            <a:r>
              <a:rPr lang="en-US" sz="1200" dirty="0">
                <a:solidFill>
                  <a:schemeClr val="tx1"/>
                </a:solidFill>
              </a:rPr>
              <a:t>Nút đổi theo trạng thái đăng nhập</a:t>
            </a:r>
            <a:endParaRPr lang="en-US" sz="1200" dirty="0"/>
          </a:p>
          <a:p>
            <a:pPr marL="342900" indent="-342900">
              <a:spcAft>
                <a:spcPts val="500"/>
              </a:spcAft>
              <a:buSzPct val="100000"/>
              <a:buChar char="•"/>
            </a:pPr>
            <a:r>
              <a:rPr lang="en-US" sz="1200" dirty="0">
                <a:solidFill>
                  <a:schemeClr val="tx1"/>
                </a:solidFill>
              </a:rPr>
              <a:t>Đã đăng nhập thì hiện Vào hệ thống</a:t>
            </a:r>
            <a:endParaRPr lang="en-US" sz="1200" dirty="0"/>
          </a:p>
        </p:txBody>
      </p:sp>
      <p:sp>
        <p:nvSpPr>
          <p:cNvPr id="11" name="Đăng nhập khung"/>
          <p:cNvSpPr/>
          <p:nvPr/>
        </p:nvSpPr>
        <p:spPr>
          <a:xfrm>
            <a:off x="2548890" y="1051560"/>
            <a:ext cx="1954530" cy="3017520"/>
          </a:xfrm>
          <a:prstGeom prst="roundRect">
            <a:avLst>
              <a:gd name="adj" fmla="val 3743"/>
            </a:avLst>
          </a:prstGeom>
          <a:solidFill>
            <a:schemeClr val="bg2"/>
          </a:solidFill>
          <a:ln w="12700">
            <a:solidFill>
              <a:schemeClr val="bg2"/>
            </a:solidFill>
            <a:prstDash val="solid"/>
          </a:ln>
        </p:spPr>
      </p:sp>
      <p:sp>
        <p:nvSpPr>
          <p:cNvPr id="12" name="Đăng nhập thanh màu"/>
          <p:cNvSpPr/>
          <p:nvPr/>
        </p:nvSpPr>
        <p:spPr>
          <a:xfrm>
            <a:off x="2548890" y="1161288"/>
            <a:ext cx="64008" cy="411480"/>
          </a:xfrm>
          <a:prstGeom prst="rect">
            <a:avLst/>
          </a:prstGeom>
          <a:solidFill>
            <a:schemeClr val="accent1"/>
          </a:solidFill>
          <a:ln w="12700">
            <a:solidFill>
              <a:schemeClr val="accent1"/>
            </a:solidFill>
            <a:prstDash val="solid"/>
          </a:ln>
        </p:spPr>
      </p:sp>
      <p:sp>
        <p:nvSpPr>
          <p:cNvPr id="13" name="Đăng nhập tiêu đề"/>
          <p:cNvSpPr txBox="1"/>
          <p:nvPr/>
        </p:nvSpPr>
        <p:spPr>
          <a:xfrm>
            <a:off x="273177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Đăng nhập</a:t>
            </a:r>
            <a:endParaRPr lang="en-US" sz="1400" dirty="0"/>
          </a:p>
        </p:txBody>
      </p:sp>
      <p:sp>
        <p:nvSpPr>
          <p:cNvPr id="14" name="Đăng nhập tên file"/>
          <p:cNvSpPr txBox="1"/>
          <p:nvPr/>
        </p:nvSpPr>
        <p:spPr>
          <a:xfrm>
            <a:off x="273177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login.html</a:t>
            </a:r>
            <a:endParaRPr lang="en-US" sz="800" dirty="0"/>
          </a:p>
        </p:txBody>
      </p:sp>
      <p:sp>
        <p:nvSpPr>
          <p:cNvPr id="15" name="Đăng nhập nội dung"/>
          <p:cNvSpPr txBox="1"/>
          <p:nvPr/>
        </p:nvSpPr>
        <p:spPr>
          <a:xfrm>
            <a:off x="273177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Kiểm tra email và mật khẩu</a:t>
            </a:r>
            <a:endParaRPr lang="en-US" sz="1200" dirty="0"/>
          </a:p>
          <a:p>
            <a:pPr marL="342900" indent="-342900">
              <a:spcAft>
                <a:spcPts val="500"/>
              </a:spcAft>
              <a:buSzPct val="100000"/>
              <a:buChar char="•"/>
            </a:pPr>
            <a:r>
              <a:rPr lang="en-US" sz="1200" dirty="0">
                <a:solidFill>
                  <a:schemeClr val="tx1"/>
                </a:solidFill>
              </a:rPr>
              <a:t>Báo lỗi: sai thông tin, tài khoản bị khóa</a:t>
            </a:r>
            <a:endParaRPr lang="en-US" sz="1200" dirty="0"/>
          </a:p>
          <a:p>
            <a:pPr marL="342900" indent="-342900">
              <a:spcAft>
                <a:spcPts val="500"/>
              </a:spcAft>
              <a:buSzPct val="100000"/>
              <a:buChar char="•"/>
            </a:pPr>
            <a:r>
              <a:rPr lang="en-US" sz="1200" dirty="0">
                <a:solidFill>
                  <a:schemeClr val="tx1"/>
                </a:solidFill>
              </a:rPr>
              <a:t>Chuyển đến trang chính theo vai trò</a:t>
            </a:r>
            <a:endParaRPr lang="en-US" sz="1200" dirty="0"/>
          </a:p>
        </p:txBody>
      </p:sp>
      <p:sp>
        <p:nvSpPr>
          <p:cNvPr id="16" name="Đăng ký khung"/>
          <p:cNvSpPr/>
          <p:nvPr/>
        </p:nvSpPr>
        <p:spPr>
          <a:xfrm>
            <a:off x="4640580" y="1051560"/>
            <a:ext cx="1954530" cy="3017520"/>
          </a:xfrm>
          <a:prstGeom prst="roundRect">
            <a:avLst>
              <a:gd name="adj" fmla="val 3743"/>
            </a:avLst>
          </a:prstGeom>
          <a:solidFill>
            <a:schemeClr val="bg2"/>
          </a:solidFill>
          <a:ln w="12700">
            <a:solidFill>
              <a:schemeClr val="bg2"/>
            </a:solidFill>
            <a:prstDash val="solid"/>
          </a:ln>
        </p:spPr>
      </p:sp>
      <p:sp>
        <p:nvSpPr>
          <p:cNvPr id="17" name="Đăng ký thanh màu"/>
          <p:cNvSpPr/>
          <p:nvPr/>
        </p:nvSpPr>
        <p:spPr>
          <a:xfrm>
            <a:off x="4640580" y="1161288"/>
            <a:ext cx="64008" cy="411480"/>
          </a:xfrm>
          <a:prstGeom prst="rect">
            <a:avLst/>
          </a:prstGeom>
          <a:solidFill>
            <a:schemeClr val="accent1"/>
          </a:solidFill>
          <a:ln w="12700">
            <a:solidFill>
              <a:schemeClr val="accent1"/>
            </a:solidFill>
            <a:prstDash val="solid"/>
          </a:ln>
        </p:spPr>
      </p:sp>
      <p:sp>
        <p:nvSpPr>
          <p:cNvPr id="18" name="Đăng ký tiêu đề"/>
          <p:cNvSpPr txBox="1"/>
          <p:nvPr/>
        </p:nvSpPr>
        <p:spPr>
          <a:xfrm>
            <a:off x="482346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Đăng ký</a:t>
            </a:r>
            <a:endParaRPr lang="en-US" sz="1400" dirty="0"/>
          </a:p>
        </p:txBody>
      </p:sp>
      <p:sp>
        <p:nvSpPr>
          <p:cNvPr id="19" name="Đăng ký tên file"/>
          <p:cNvSpPr txBox="1"/>
          <p:nvPr/>
        </p:nvSpPr>
        <p:spPr>
          <a:xfrm>
            <a:off x="482346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register.html</a:t>
            </a:r>
            <a:endParaRPr lang="en-US" sz="800" dirty="0"/>
          </a:p>
        </p:txBody>
      </p:sp>
      <p:sp>
        <p:nvSpPr>
          <p:cNvPr id="20" name="Đăng ký nội dung"/>
          <p:cNvSpPr txBox="1"/>
          <p:nvPr/>
        </p:nvSpPr>
        <p:spPr>
          <a:xfrm>
            <a:off x="482346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Kiểm tra bỏ trống, mật khẩu từ 6 ký tự</a:t>
            </a:r>
            <a:endParaRPr lang="en-US" sz="1200" dirty="0"/>
          </a:p>
          <a:p>
            <a:pPr marL="342900" indent="-342900">
              <a:spcAft>
                <a:spcPts val="500"/>
              </a:spcAft>
              <a:buSzPct val="100000"/>
              <a:buChar char="•"/>
            </a:pPr>
            <a:r>
              <a:rPr lang="en-US" sz="1200" dirty="0">
                <a:solidFill>
                  <a:schemeClr val="tx1"/>
                </a:solidFill>
              </a:rPr>
              <a:t>Nhập lại mật khẩu phải khớp</a:t>
            </a:r>
            <a:endParaRPr lang="en-US" sz="1200" dirty="0"/>
          </a:p>
          <a:p>
            <a:pPr marL="342900" indent="-342900">
              <a:spcAft>
                <a:spcPts val="500"/>
              </a:spcAft>
              <a:buSzPct val="100000"/>
              <a:buChar char="•"/>
            </a:pPr>
            <a:r>
              <a:rPr lang="en-US" sz="1200" dirty="0">
                <a:solidFill>
                  <a:schemeClr val="tx1"/>
                </a:solidFill>
              </a:rPr>
              <a:t>Chặn trùng email, họ tên</a:t>
            </a:r>
            <a:endParaRPr lang="en-US" sz="1200" dirty="0"/>
          </a:p>
          <a:p>
            <a:pPr marL="342900" indent="-342900">
              <a:spcAft>
                <a:spcPts val="500"/>
              </a:spcAft>
              <a:buSzPct val="100000"/>
              <a:buChar char="•"/>
            </a:pPr>
            <a:r>
              <a:rPr lang="en-US" sz="1200" dirty="0">
                <a:solidFill>
                  <a:schemeClr val="tx1"/>
                </a:solidFill>
              </a:rPr>
              <a:t>Tạo tài khoản Người dân</a:t>
            </a:r>
            <a:endParaRPr lang="en-US" sz="1200" dirty="0"/>
          </a:p>
        </p:txBody>
      </p:sp>
      <p:sp>
        <p:nvSpPr>
          <p:cNvPr id="21" name="Quên mật khẩu khung"/>
          <p:cNvSpPr/>
          <p:nvPr/>
        </p:nvSpPr>
        <p:spPr>
          <a:xfrm>
            <a:off x="6732270" y="1051560"/>
            <a:ext cx="1954530" cy="3017520"/>
          </a:xfrm>
          <a:prstGeom prst="roundRect">
            <a:avLst>
              <a:gd name="adj" fmla="val 3743"/>
            </a:avLst>
          </a:prstGeom>
          <a:solidFill>
            <a:schemeClr val="bg2"/>
          </a:solidFill>
          <a:ln w="12700">
            <a:solidFill>
              <a:schemeClr val="bg2"/>
            </a:solidFill>
            <a:prstDash val="solid"/>
          </a:ln>
        </p:spPr>
      </p:sp>
      <p:sp>
        <p:nvSpPr>
          <p:cNvPr id="22" name="Quên mật khẩu thanh màu"/>
          <p:cNvSpPr/>
          <p:nvPr/>
        </p:nvSpPr>
        <p:spPr>
          <a:xfrm>
            <a:off x="6732270" y="1161288"/>
            <a:ext cx="64008" cy="411480"/>
          </a:xfrm>
          <a:prstGeom prst="rect">
            <a:avLst/>
          </a:prstGeom>
          <a:solidFill>
            <a:schemeClr val="accent1"/>
          </a:solidFill>
          <a:ln w="12700">
            <a:solidFill>
              <a:schemeClr val="accent1"/>
            </a:solidFill>
            <a:prstDash val="solid"/>
          </a:ln>
        </p:spPr>
      </p:sp>
      <p:sp>
        <p:nvSpPr>
          <p:cNvPr id="23" name="Quên mật khẩu tiêu đề"/>
          <p:cNvSpPr txBox="1"/>
          <p:nvPr/>
        </p:nvSpPr>
        <p:spPr>
          <a:xfrm>
            <a:off x="691515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Quên mật khẩu</a:t>
            </a:r>
            <a:endParaRPr lang="en-US" sz="1400" dirty="0"/>
          </a:p>
        </p:txBody>
      </p:sp>
      <p:sp>
        <p:nvSpPr>
          <p:cNvPr id="24" name="Quên mật khẩu tên file"/>
          <p:cNvSpPr txBox="1"/>
          <p:nvPr/>
        </p:nvSpPr>
        <p:spPr>
          <a:xfrm>
            <a:off x="691515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forgot-password.html</a:t>
            </a:r>
            <a:endParaRPr lang="en-US" sz="800" dirty="0"/>
          </a:p>
        </p:txBody>
      </p:sp>
      <p:sp>
        <p:nvSpPr>
          <p:cNvPr id="25" name="Quên mật khẩu nội dung"/>
          <p:cNvSpPr txBox="1"/>
          <p:nvPr/>
        </p:nvSpPr>
        <p:spPr>
          <a:xfrm>
            <a:off x="691515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Nhập email và mật khẩu mới</a:t>
            </a:r>
            <a:endParaRPr lang="en-US" sz="1200" dirty="0"/>
          </a:p>
          <a:p>
            <a:pPr marL="342900" indent="-342900">
              <a:spcAft>
                <a:spcPts val="500"/>
              </a:spcAft>
              <a:buSzPct val="100000"/>
              <a:buChar char="•"/>
            </a:pPr>
            <a:r>
              <a:rPr lang="en-US" sz="1200" dirty="0">
                <a:solidFill>
                  <a:schemeClr val="tx1"/>
                </a:solidFill>
              </a:rPr>
              <a:t>Tìm email trong danh sách tài khoản</a:t>
            </a:r>
            <a:endParaRPr lang="en-US" sz="1200" dirty="0"/>
          </a:p>
          <a:p>
            <a:pPr marL="342900" indent="-342900">
              <a:spcAft>
                <a:spcPts val="500"/>
              </a:spcAft>
              <a:buSzPct val="100000"/>
              <a:buChar char="•"/>
            </a:pPr>
            <a:r>
              <a:rPr lang="en-US" sz="1200" dirty="0">
                <a:solidFill>
                  <a:schemeClr val="tx1"/>
                </a:solidFill>
              </a:rPr>
              <a:t>Đổi mật khẩu rồi về đăng nhập (mô phỏng)</a:t>
            </a:r>
            <a:endParaRPr lang="en-US" sz="1200" dirty="0"/>
          </a:p>
        </p:txBody>
      </p:sp>
      <p:sp>
        <p:nvSpPr>
          <p:cNvPr id="26"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7"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kiểm tra dữ liệu form · hàm login() · bảng HOME theo vai trò · localStorage ghi nhớ đăng nhập</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hanh màu Cảnh"/>
          <p:cNvSpPr/>
          <p:nvPr/>
        </p:nvSpPr>
        <p:spPr>
          <a:xfrm>
            <a:off x="0" y="0"/>
            <a:ext cx="9144000" cy="109728"/>
          </a:xfrm>
          <a:prstGeom prst="rect">
            <a:avLst/>
          </a:prstGeom>
          <a:solidFill>
            <a:schemeClr val="accent1"/>
          </a:solidFill>
          <a:ln w="12700">
            <a:solidFill>
              <a:schemeClr val="accent1"/>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Giao diện Người dân (3 trang)</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1"/>
          </a:solidFill>
          <a:ln w="12700">
            <a:solidFill>
              <a:schemeClr val="accent1"/>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bg1"/>
                </a:solidFill>
              </a:rPr>
              <a:t>Phần của Cảnh</a:t>
            </a:r>
            <a:endParaRPr lang="en-US" sz="1200" dirty="0"/>
          </a:p>
        </p:txBody>
      </p:sp>
      <p:sp>
        <p:nvSpPr>
          <p:cNvPr id="6" name="Hướng dẫn phân loại khung"/>
          <p:cNvSpPr/>
          <p:nvPr/>
        </p:nvSpPr>
        <p:spPr>
          <a:xfrm>
            <a:off x="457200" y="1051560"/>
            <a:ext cx="2651760" cy="3017520"/>
          </a:xfrm>
          <a:prstGeom prst="roundRect">
            <a:avLst>
              <a:gd name="adj" fmla="val 2759"/>
            </a:avLst>
          </a:prstGeom>
          <a:solidFill>
            <a:schemeClr val="bg2"/>
          </a:solidFill>
          <a:ln w="12700">
            <a:solidFill>
              <a:schemeClr val="bg2"/>
            </a:solidFill>
            <a:prstDash val="solid"/>
          </a:ln>
        </p:spPr>
      </p:sp>
      <p:sp>
        <p:nvSpPr>
          <p:cNvPr id="7" name="Hướng dẫn phân loại thanh màu"/>
          <p:cNvSpPr/>
          <p:nvPr/>
        </p:nvSpPr>
        <p:spPr>
          <a:xfrm>
            <a:off x="457200" y="1161288"/>
            <a:ext cx="64008" cy="411480"/>
          </a:xfrm>
          <a:prstGeom prst="rect">
            <a:avLst/>
          </a:prstGeom>
          <a:solidFill>
            <a:schemeClr val="accent1"/>
          </a:solidFill>
          <a:ln w="12700">
            <a:solidFill>
              <a:schemeClr val="accent1"/>
            </a:solidFill>
            <a:prstDash val="solid"/>
          </a:ln>
        </p:spPr>
      </p:sp>
      <p:sp>
        <p:nvSpPr>
          <p:cNvPr id="8" name="Hướng dẫn phân loại tiêu đề"/>
          <p:cNvSpPr txBox="1"/>
          <p:nvPr/>
        </p:nvSpPr>
        <p:spPr>
          <a:xfrm>
            <a:off x="64008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Hướng dẫn phân loại</a:t>
            </a:r>
            <a:endParaRPr lang="en-US" sz="1400" dirty="0"/>
          </a:p>
        </p:txBody>
      </p:sp>
      <p:sp>
        <p:nvSpPr>
          <p:cNvPr id="9" name="Hướng dẫn phân loại tên file"/>
          <p:cNvSpPr txBox="1"/>
          <p:nvPr/>
        </p:nvSpPr>
        <p:spPr>
          <a:xfrm>
            <a:off x="64008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resident-waste-guide.html</a:t>
            </a:r>
            <a:endParaRPr lang="en-US" sz="800" dirty="0"/>
          </a:p>
        </p:txBody>
      </p:sp>
      <p:sp>
        <p:nvSpPr>
          <p:cNvPr id="10" name="Hướng dẫn phân loại nội dung"/>
          <p:cNvSpPr txBox="1"/>
          <p:nvPr/>
        </p:nvSpPr>
        <p:spPr>
          <a:xfrm>
            <a:off x="64008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Thẻ loại rác lấy từ dữ liệu quản trị viên</a:t>
            </a:r>
            <a:endParaRPr lang="en-US" sz="1300" dirty="0"/>
          </a:p>
          <a:p>
            <a:pPr marL="342900" indent="-342900">
              <a:spcAft>
                <a:spcPts val="500"/>
              </a:spcAft>
              <a:buSzPct val="100000"/>
              <a:buChar char="•"/>
            </a:pPr>
            <a:r>
              <a:rPr lang="en-US" sz="1300" dirty="0">
                <a:solidFill>
                  <a:schemeClr val="tx1"/>
                </a:solidFill>
              </a:rPr>
              <a:t>Ô tìm kiếm lọc ngay khi gõ</a:t>
            </a:r>
            <a:endParaRPr lang="en-US" sz="1300" dirty="0"/>
          </a:p>
          <a:p>
            <a:pPr marL="342900" indent="-342900">
              <a:spcAft>
                <a:spcPts val="500"/>
              </a:spcAft>
              <a:buSzPct val="100000"/>
              <a:buChar char="•"/>
            </a:pPr>
            <a:r>
              <a:rPr lang="en-US" sz="1300" dirty="0">
                <a:solidFill>
                  <a:schemeClr val="tx1"/>
                </a:solidFill>
              </a:rPr>
              <a:t>Báo khi không tìm thấy</a:t>
            </a:r>
            <a:endParaRPr lang="en-US" sz="1300" dirty="0"/>
          </a:p>
        </p:txBody>
      </p:sp>
      <p:sp>
        <p:nvSpPr>
          <p:cNvPr id="11" name="Tìm điểm thu gom khung"/>
          <p:cNvSpPr/>
          <p:nvPr/>
        </p:nvSpPr>
        <p:spPr>
          <a:xfrm>
            <a:off x="3246120" y="1051560"/>
            <a:ext cx="2651760" cy="3017520"/>
          </a:xfrm>
          <a:prstGeom prst="roundRect">
            <a:avLst>
              <a:gd name="adj" fmla="val 2759"/>
            </a:avLst>
          </a:prstGeom>
          <a:solidFill>
            <a:schemeClr val="bg2"/>
          </a:solidFill>
          <a:ln w="12700">
            <a:solidFill>
              <a:schemeClr val="bg2"/>
            </a:solidFill>
            <a:prstDash val="solid"/>
          </a:ln>
        </p:spPr>
      </p:sp>
      <p:sp>
        <p:nvSpPr>
          <p:cNvPr id="12" name="Tìm điểm thu gom thanh màu"/>
          <p:cNvSpPr/>
          <p:nvPr/>
        </p:nvSpPr>
        <p:spPr>
          <a:xfrm>
            <a:off x="3246120" y="1161288"/>
            <a:ext cx="64008" cy="411480"/>
          </a:xfrm>
          <a:prstGeom prst="rect">
            <a:avLst/>
          </a:prstGeom>
          <a:solidFill>
            <a:schemeClr val="accent1"/>
          </a:solidFill>
          <a:ln w="12700">
            <a:solidFill>
              <a:schemeClr val="accent1"/>
            </a:solidFill>
            <a:prstDash val="solid"/>
          </a:ln>
        </p:spPr>
      </p:sp>
      <p:sp>
        <p:nvSpPr>
          <p:cNvPr id="13" name="Tìm điểm thu gom tiêu đề"/>
          <p:cNvSpPr txBox="1"/>
          <p:nvPr/>
        </p:nvSpPr>
        <p:spPr>
          <a:xfrm>
            <a:off x="342900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Tìm điểm thu gom</a:t>
            </a:r>
            <a:endParaRPr lang="en-US" sz="1400" dirty="0"/>
          </a:p>
        </p:txBody>
      </p:sp>
      <p:sp>
        <p:nvSpPr>
          <p:cNvPr id="14" name="Tìm điểm thu gom tên file"/>
          <p:cNvSpPr txBox="1"/>
          <p:nvPr/>
        </p:nvSpPr>
        <p:spPr>
          <a:xfrm>
            <a:off x="342900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resident-collection-points.html</a:t>
            </a:r>
            <a:endParaRPr lang="en-US" sz="800" dirty="0"/>
          </a:p>
        </p:txBody>
      </p:sp>
      <p:sp>
        <p:nvSpPr>
          <p:cNvPr id="15" name="Tìm điểm thu gom nội dung"/>
          <p:cNvSpPr txBox="1"/>
          <p:nvPr/>
        </p:nvSpPr>
        <p:spPr>
          <a:xfrm>
            <a:off x="342900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Ô chọn lọc theo loại rác</a:t>
            </a:r>
            <a:endParaRPr lang="en-US" sz="1300" dirty="0"/>
          </a:p>
          <a:p>
            <a:pPr marL="342900" indent="-342900">
              <a:spcAft>
                <a:spcPts val="500"/>
              </a:spcAft>
              <a:buSzPct val="100000"/>
              <a:buChar char="•"/>
            </a:pPr>
            <a:r>
              <a:rPr lang="en-US" sz="1300" dirty="0">
                <a:solidFill>
                  <a:schemeClr val="tx1"/>
                </a:solidFill>
              </a:rPr>
              <a:t>Bảng: tên, địa chỉ, loại rác nhận</a:t>
            </a:r>
            <a:endParaRPr lang="en-US" sz="1300" dirty="0"/>
          </a:p>
          <a:p>
            <a:pPr marL="342900" indent="-342900">
              <a:spcAft>
                <a:spcPts val="500"/>
              </a:spcAft>
              <a:buSzPct val="100000"/>
              <a:buChar char="•"/>
            </a:pPr>
            <a:r>
              <a:rPr lang="en-US" sz="1300" dirty="0">
                <a:solidFill>
                  <a:schemeClr val="tx1"/>
                </a:solidFill>
              </a:rPr>
              <a:t>Có cả điểm điều phối viên mới thêm</a:t>
            </a:r>
            <a:endParaRPr lang="en-US" sz="1300" dirty="0"/>
          </a:p>
        </p:txBody>
      </p:sp>
      <p:sp>
        <p:nvSpPr>
          <p:cNvPr id="16" name="Gửi yêu cầu thu gom khung"/>
          <p:cNvSpPr/>
          <p:nvPr/>
        </p:nvSpPr>
        <p:spPr>
          <a:xfrm>
            <a:off x="6035040" y="1051560"/>
            <a:ext cx="2651760" cy="3017520"/>
          </a:xfrm>
          <a:prstGeom prst="roundRect">
            <a:avLst>
              <a:gd name="adj" fmla="val 2759"/>
            </a:avLst>
          </a:prstGeom>
          <a:solidFill>
            <a:schemeClr val="bg2"/>
          </a:solidFill>
          <a:ln w="12700">
            <a:solidFill>
              <a:schemeClr val="bg2"/>
            </a:solidFill>
            <a:prstDash val="solid"/>
          </a:ln>
        </p:spPr>
      </p:sp>
      <p:sp>
        <p:nvSpPr>
          <p:cNvPr id="17" name="Gửi yêu cầu thu gom thanh màu"/>
          <p:cNvSpPr/>
          <p:nvPr/>
        </p:nvSpPr>
        <p:spPr>
          <a:xfrm>
            <a:off x="6035040" y="1161288"/>
            <a:ext cx="64008" cy="411480"/>
          </a:xfrm>
          <a:prstGeom prst="rect">
            <a:avLst/>
          </a:prstGeom>
          <a:solidFill>
            <a:schemeClr val="accent1"/>
          </a:solidFill>
          <a:ln w="12700">
            <a:solidFill>
              <a:schemeClr val="accent1"/>
            </a:solidFill>
            <a:prstDash val="solid"/>
          </a:ln>
        </p:spPr>
      </p:sp>
      <p:sp>
        <p:nvSpPr>
          <p:cNvPr id="18" name="Gửi yêu cầu thu gom tiêu đề"/>
          <p:cNvSpPr txBox="1"/>
          <p:nvPr/>
        </p:nvSpPr>
        <p:spPr>
          <a:xfrm>
            <a:off x="621792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Gửi yêu cầu thu gom</a:t>
            </a:r>
            <a:endParaRPr lang="en-US" sz="1400" dirty="0"/>
          </a:p>
        </p:txBody>
      </p:sp>
      <p:sp>
        <p:nvSpPr>
          <p:cNvPr id="19" name="Gửi yêu cầu thu gom tên file"/>
          <p:cNvSpPr txBox="1"/>
          <p:nvPr/>
        </p:nvSpPr>
        <p:spPr>
          <a:xfrm>
            <a:off x="621792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resident-pickup-request.html</a:t>
            </a:r>
            <a:endParaRPr lang="en-US" sz="800" dirty="0"/>
          </a:p>
        </p:txBody>
      </p:sp>
      <p:sp>
        <p:nvSpPr>
          <p:cNvPr id="20" name="Gửi yêu cầu thu gom nội dung"/>
          <p:cNvSpPr txBox="1"/>
          <p:nvPr/>
        </p:nvSpPr>
        <p:spPr>
          <a:xfrm>
            <a:off x="621792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Form: loại rác, khối lượng, địa chỉ, ngày</a:t>
            </a:r>
            <a:endParaRPr lang="en-US" sz="1300" dirty="0"/>
          </a:p>
          <a:p>
            <a:pPr marL="342900" indent="-342900">
              <a:spcAft>
                <a:spcPts val="500"/>
              </a:spcAft>
              <a:buSzPct val="100000"/>
              <a:buChar char="•"/>
            </a:pPr>
            <a:r>
              <a:rPr lang="en-US" sz="1300" dirty="0">
                <a:solidFill>
                  <a:schemeClr val="tx1"/>
                </a:solidFill>
              </a:rPr>
              <a:t>Địa chỉ điền sẵn từ hồ sơ</a:t>
            </a:r>
            <a:endParaRPr lang="en-US" sz="1300" dirty="0"/>
          </a:p>
          <a:p>
            <a:pPr marL="342900" indent="-342900">
              <a:spcAft>
                <a:spcPts val="500"/>
              </a:spcAft>
              <a:buSzPct val="100000"/>
              <a:buChar char="•"/>
            </a:pPr>
            <a:r>
              <a:rPr lang="en-US" sz="1300" dirty="0">
                <a:solidFill>
                  <a:schemeClr val="tx1"/>
                </a:solidFill>
              </a:rPr>
              <a:t>Gửi xong báo cho điều phối viên</a:t>
            </a:r>
            <a:endParaRPr lang="en-US" sz="1300" dirty="0"/>
          </a:p>
          <a:p>
            <a:pPr marL="342900" indent="-342900">
              <a:spcAft>
                <a:spcPts val="500"/>
              </a:spcAft>
              <a:buSzPct val="100000"/>
              <a:buChar char="•"/>
            </a:pPr>
            <a:r>
              <a:rPr lang="en-US" sz="1300" dirty="0">
                <a:solidFill>
                  <a:schemeClr val="tx1"/>
                </a:solidFill>
              </a:rPr>
              <a:t>Danh sách yêu cầu kèm trạng thái</a:t>
            </a:r>
            <a:endParaRPr lang="en-US" sz="1300" dirty="0"/>
          </a:p>
        </p:txBody>
      </p:sp>
      <p:sp>
        <p:nvSpPr>
          <p:cNvPr id="21"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2"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lọc bằng indexOf · tạo HTML bằng vòng for · gọi DB.set và notify</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hanh màu Duệ"/>
          <p:cNvSpPr/>
          <p:nvPr/>
        </p:nvSpPr>
        <p:spPr>
          <a:xfrm>
            <a:off x="0" y="0"/>
            <a:ext cx="9144000" cy="109728"/>
          </a:xfrm>
          <a:prstGeom prst="rect">
            <a:avLst/>
          </a:prstGeom>
          <a:solidFill>
            <a:schemeClr val="accent2"/>
          </a:solidFill>
          <a:ln w="12700">
            <a:solidFill>
              <a:schemeClr val="accent2"/>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Nhân viên thu gom (3 trang)</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2"/>
          </a:solidFill>
          <a:ln w="12700">
            <a:solidFill>
              <a:schemeClr val="accent2"/>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tx1"/>
                </a:solidFill>
              </a:rPr>
              <a:t>Phần của Duệ</a:t>
            </a:r>
            <a:endParaRPr lang="en-US" sz="1200" dirty="0"/>
          </a:p>
        </p:txBody>
      </p:sp>
      <p:sp>
        <p:nvSpPr>
          <p:cNvPr id="6" name="Danh sách công việc khung"/>
          <p:cNvSpPr/>
          <p:nvPr/>
        </p:nvSpPr>
        <p:spPr>
          <a:xfrm>
            <a:off x="457200" y="1051560"/>
            <a:ext cx="2651760" cy="3017520"/>
          </a:xfrm>
          <a:prstGeom prst="roundRect">
            <a:avLst>
              <a:gd name="adj" fmla="val 2759"/>
            </a:avLst>
          </a:prstGeom>
          <a:solidFill>
            <a:schemeClr val="bg2"/>
          </a:solidFill>
          <a:ln w="12700">
            <a:solidFill>
              <a:schemeClr val="bg2"/>
            </a:solidFill>
            <a:prstDash val="solid"/>
          </a:ln>
        </p:spPr>
      </p:sp>
      <p:sp>
        <p:nvSpPr>
          <p:cNvPr id="7" name="Danh sách công việc thanh màu"/>
          <p:cNvSpPr/>
          <p:nvPr/>
        </p:nvSpPr>
        <p:spPr>
          <a:xfrm>
            <a:off x="457200" y="1161288"/>
            <a:ext cx="64008" cy="411480"/>
          </a:xfrm>
          <a:prstGeom prst="rect">
            <a:avLst/>
          </a:prstGeom>
          <a:solidFill>
            <a:schemeClr val="accent2"/>
          </a:solidFill>
          <a:ln w="12700">
            <a:solidFill>
              <a:schemeClr val="accent2"/>
            </a:solidFill>
            <a:prstDash val="solid"/>
          </a:ln>
        </p:spPr>
      </p:sp>
      <p:sp>
        <p:nvSpPr>
          <p:cNvPr id="8" name="Danh sách công việc tiêu đề"/>
          <p:cNvSpPr txBox="1"/>
          <p:nvPr/>
        </p:nvSpPr>
        <p:spPr>
          <a:xfrm>
            <a:off x="64008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Danh sách công việc</a:t>
            </a:r>
            <a:endParaRPr lang="en-US" sz="1400" dirty="0"/>
          </a:p>
        </p:txBody>
      </p:sp>
      <p:sp>
        <p:nvSpPr>
          <p:cNvPr id="9" name="Danh sách công việc tên file"/>
          <p:cNvSpPr txBox="1"/>
          <p:nvPr/>
        </p:nvSpPr>
        <p:spPr>
          <a:xfrm>
            <a:off x="64008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collector-task-list.html</a:t>
            </a:r>
            <a:endParaRPr lang="en-US" sz="800" dirty="0"/>
          </a:p>
        </p:txBody>
      </p:sp>
      <p:sp>
        <p:nvSpPr>
          <p:cNvPr id="10" name="Danh sách công việc nội dung"/>
          <p:cNvSpPr txBox="1"/>
          <p:nvPr/>
        </p:nvSpPr>
        <p:spPr>
          <a:xfrm>
            <a:off x="64008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Chỉ hiện việc được giao cho mình</a:t>
            </a:r>
            <a:endParaRPr lang="en-US" sz="1300" dirty="0"/>
          </a:p>
          <a:p>
            <a:pPr marL="342900" indent="-342900">
              <a:spcAft>
                <a:spcPts val="500"/>
              </a:spcAft>
              <a:buSzPct val="100000"/>
              <a:buChar char="•"/>
            </a:pPr>
            <a:r>
              <a:rPr lang="en-US" sz="1300" dirty="0">
                <a:solidFill>
                  <a:schemeClr val="tx1"/>
                </a:solidFill>
              </a:rPr>
              <a:t>Nút Bắt đầu thu gom đổi trạng thái</a:t>
            </a:r>
            <a:endParaRPr lang="en-US" sz="1300" dirty="0"/>
          </a:p>
          <a:p>
            <a:pPr marL="342900" indent="-342900">
              <a:spcAft>
                <a:spcPts val="500"/>
              </a:spcAft>
              <a:buSzPct val="100000"/>
              <a:buChar char="•"/>
            </a:pPr>
            <a:r>
              <a:rPr lang="en-US" sz="1300" dirty="0">
                <a:solidFill>
                  <a:schemeClr val="tx1"/>
                </a:solidFill>
              </a:rPr>
              <a:t>Báo cho người dân khi bắt đầu</a:t>
            </a:r>
            <a:endParaRPr lang="en-US" sz="1300" dirty="0"/>
          </a:p>
          <a:p>
            <a:pPr marL="342900" indent="-342900">
              <a:spcAft>
                <a:spcPts val="500"/>
              </a:spcAft>
              <a:buSzPct val="100000"/>
              <a:buChar char="•"/>
            </a:pPr>
            <a:r>
              <a:rPr lang="en-US" sz="1300" dirty="0">
                <a:solidFill>
                  <a:schemeClr val="tx1"/>
                </a:solidFill>
              </a:rPr>
              <a:t>Link Xử lý sang trang chi tiết</a:t>
            </a:r>
            <a:endParaRPr lang="en-US" sz="1300" dirty="0"/>
          </a:p>
        </p:txBody>
      </p:sp>
      <p:sp>
        <p:nvSpPr>
          <p:cNvPr id="11" name="Tuyến thu gom khung"/>
          <p:cNvSpPr/>
          <p:nvPr/>
        </p:nvSpPr>
        <p:spPr>
          <a:xfrm>
            <a:off x="3246120" y="1051560"/>
            <a:ext cx="2651760" cy="3017520"/>
          </a:xfrm>
          <a:prstGeom prst="roundRect">
            <a:avLst>
              <a:gd name="adj" fmla="val 2759"/>
            </a:avLst>
          </a:prstGeom>
          <a:solidFill>
            <a:schemeClr val="bg2"/>
          </a:solidFill>
          <a:ln w="12700">
            <a:solidFill>
              <a:schemeClr val="bg2"/>
            </a:solidFill>
            <a:prstDash val="solid"/>
          </a:ln>
        </p:spPr>
      </p:sp>
      <p:sp>
        <p:nvSpPr>
          <p:cNvPr id="12" name="Tuyến thu gom thanh màu"/>
          <p:cNvSpPr/>
          <p:nvPr/>
        </p:nvSpPr>
        <p:spPr>
          <a:xfrm>
            <a:off x="3246120" y="1161288"/>
            <a:ext cx="64008" cy="411480"/>
          </a:xfrm>
          <a:prstGeom prst="rect">
            <a:avLst/>
          </a:prstGeom>
          <a:solidFill>
            <a:schemeClr val="accent2"/>
          </a:solidFill>
          <a:ln w="12700">
            <a:solidFill>
              <a:schemeClr val="accent2"/>
            </a:solidFill>
            <a:prstDash val="solid"/>
          </a:ln>
        </p:spPr>
      </p:sp>
      <p:sp>
        <p:nvSpPr>
          <p:cNvPr id="13" name="Tuyến thu gom tiêu đề"/>
          <p:cNvSpPr txBox="1"/>
          <p:nvPr/>
        </p:nvSpPr>
        <p:spPr>
          <a:xfrm>
            <a:off x="342900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Tuyến thu gom</a:t>
            </a:r>
            <a:endParaRPr lang="en-US" sz="1400" dirty="0"/>
          </a:p>
        </p:txBody>
      </p:sp>
      <p:sp>
        <p:nvSpPr>
          <p:cNvPr id="14" name="Tuyến thu gom tên file"/>
          <p:cNvSpPr txBox="1"/>
          <p:nvPr/>
        </p:nvSpPr>
        <p:spPr>
          <a:xfrm>
            <a:off x="342900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collector-route-view.html</a:t>
            </a:r>
            <a:endParaRPr lang="en-US" sz="800" dirty="0"/>
          </a:p>
        </p:txBody>
      </p:sp>
      <p:sp>
        <p:nvSpPr>
          <p:cNvPr id="15" name="Tuyến thu gom nội dung"/>
          <p:cNvSpPr txBox="1"/>
          <p:nvPr/>
        </p:nvSpPr>
        <p:spPr>
          <a:xfrm>
            <a:off x="342900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Danh sách điểm trên tuyến</a:t>
            </a:r>
            <a:endParaRPr lang="en-US" sz="1300" dirty="0"/>
          </a:p>
          <a:p>
            <a:pPr marL="342900" indent="-342900">
              <a:spcAft>
                <a:spcPts val="500"/>
              </a:spcAft>
              <a:buSzPct val="100000"/>
              <a:buChar char="•"/>
            </a:pPr>
            <a:r>
              <a:rPr lang="en-US" sz="1300" dirty="0">
                <a:solidFill>
                  <a:schemeClr val="tx1"/>
                </a:solidFill>
              </a:rPr>
              <a:t>Mỗi điểm kèm trạng thái</a:t>
            </a:r>
            <a:endParaRPr lang="en-US" sz="1300" dirty="0"/>
          </a:p>
          <a:p>
            <a:pPr marL="342900" indent="-342900">
              <a:spcAft>
                <a:spcPts val="500"/>
              </a:spcAft>
              <a:buSzPct val="100000"/>
              <a:buChar char="•"/>
            </a:pPr>
            <a:r>
              <a:rPr lang="en-US" sz="1300" dirty="0">
                <a:solidFill>
                  <a:schemeClr val="tx1"/>
                </a:solidFill>
              </a:rPr>
              <a:t>Thanh tiến độ phần trăm đã hoàn thành</a:t>
            </a:r>
            <a:endParaRPr lang="en-US" sz="1300" dirty="0"/>
          </a:p>
        </p:txBody>
      </p:sp>
      <p:sp>
        <p:nvSpPr>
          <p:cNvPr id="16" name="Chi tiết yêu cầu khung"/>
          <p:cNvSpPr/>
          <p:nvPr/>
        </p:nvSpPr>
        <p:spPr>
          <a:xfrm>
            <a:off x="6035040" y="1051560"/>
            <a:ext cx="2651760" cy="3017520"/>
          </a:xfrm>
          <a:prstGeom prst="roundRect">
            <a:avLst>
              <a:gd name="adj" fmla="val 2759"/>
            </a:avLst>
          </a:prstGeom>
          <a:solidFill>
            <a:schemeClr val="bg2"/>
          </a:solidFill>
          <a:ln w="12700">
            <a:solidFill>
              <a:schemeClr val="bg2"/>
            </a:solidFill>
            <a:prstDash val="solid"/>
          </a:ln>
        </p:spPr>
      </p:sp>
      <p:sp>
        <p:nvSpPr>
          <p:cNvPr id="17" name="Chi tiết yêu cầu thanh màu"/>
          <p:cNvSpPr/>
          <p:nvPr/>
        </p:nvSpPr>
        <p:spPr>
          <a:xfrm>
            <a:off x="6035040" y="1161288"/>
            <a:ext cx="64008" cy="411480"/>
          </a:xfrm>
          <a:prstGeom prst="rect">
            <a:avLst/>
          </a:prstGeom>
          <a:solidFill>
            <a:schemeClr val="accent2"/>
          </a:solidFill>
          <a:ln w="12700">
            <a:solidFill>
              <a:schemeClr val="accent2"/>
            </a:solidFill>
            <a:prstDash val="solid"/>
          </a:ln>
        </p:spPr>
      </p:sp>
      <p:sp>
        <p:nvSpPr>
          <p:cNvPr id="18" name="Chi tiết yêu cầu tiêu đề"/>
          <p:cNvSpPr txBox="1"/>
          <p:nvPr/>
        </p:nvSpPr>
        <p:spPr>
          <a:xfrm>
            <a:off x="6217920" y="1143000"/>
            <a:ext cx="2377440" cy="457200"/>
          </a:xfrm>
          <a:prstGeom prst="rect">
            <a:avLst/>
          </a:prstGeom>
          <a:noFill/>
          <a:ln/>
        </p:spPr>
        <p:txBody>
          <a:bodyPr wrap="square" lIns="0" tIns="0" rIns="0" bIns="0" rtlCol="0" anchor="ctr"/>
          <a:lstStyle/>
          <a:p>
            <a:pPr indent="0" marL="0">
              <a:buNone/>
            </a:pPr>
            <a:r>
              <a:rPr lang="en-US" sz="1400" b="1" dirty="0">
                <a:solidFill>
                  <a:schemeClr val="tx2"/>
                </a:solidFill>
              </a:rPr>
              <a:t>Chi tiết yêu cầu</a:t>
            </a:r>
            <a:endParaRPr lang="en-US" sz="1400" dirty="0"/>
          </a:p>
        </p:txBody>
      </p:sp>
      <p:sp>
        <p:nvSpPr>
          <p:cNvPr id="19" name="Chi tiết yêu cầu tên file"/>
          <p:cNvSpPr txBox="1"/>
          <p:nvPr/>
        </p:nvSpPr>
        <p:spPr>
          <a:xfrm>
            <a:off x="6217920" y="1645920"/>
            <a:ext cx="2377440" cy="320040"/>
          </a:xfrm>
          <a:prstGeom prst="rect">
            <a:avLst/>
          </a:prstGeom>
          <a:noFill/>
          <a:ln/>
        </p:spPr>
        <p:txBody>
          <a:bodyPr wrap="square" lIns="0" tIns="0" rIns="0" bIns="0" rtlCol="0" anchor="t"/>
          <a:lstStyle/>
          <a:p>
            <a:pPr indent="0" marL="0">
              <a:buNone/>
            </a:pPr>
            <a:r>
              <a:rPr lang="en-US" sz="800" dirty="0">
                <a:solidFill>
                  <a:schemeClr val="accent5"/>
                </a:solidFill>
              </a:rPr>
              <a:t>collector-request-detail.html</a:t>
            </a:r>
            <a:endParaRPr lang="en-US" sz="800" dirty="0"/>
          </a:p>
        </p:txBody>
      </p:sp>
      <p:sp>
        <p:nvSpPr>
          <p:cNvPr id="20" name="Chi tiết yêu cầu nội dung"/>
          <p:cNvSpPr txBox="1"/>
          <p:nvPr/>
        </p:nvSpPr>
        <p:spPr>
          <a:xfrm>
            <a:off x="6217920" y="201168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Chọn yêu cầu và xem thông tin</a:t>
            </a:r>
            <a:endParaRPr lang="en-US" sz="1300" dirty="0"/>
          </a:p>
          <a:p>
            <a:pPr marL="342900" indent="-342900">
              <a:spcAft>
                <a:spcPts val="500"/>
              </a:spcAft>
              <a:buSzPct val="100000"/>
              <a:buChar char="•"/>
            </a:pPr>
            <a:r>
              <a:rPr lang="en-US" sz="1300" dirty="0">
                <a:solidFill>
                  <a:schemeClr val="tx1"/>
                </a:solidFill>
              </a:rPr>
              <a:t>Đổi trạng thái (4 lựa chọn), ghi chú</a:t>
            </a:r>
            <a:endParaRPr lang="en-US" sz="1300" dirty="0"/>
          </a:p>
          <a:p>
            <a:pPr marL="342900" indent="-342900">
              <a:spcAft>
                <a:spcPts val="500"/>
              </a:spcAft>
              <a:buSzPct val="100000"/>
              <a:buChar char="•"/>
            </a:pPr>
            <a:r>
              <a:rPr lang="en-US" sz="1300" dirty="0">
                <a:solidFill>
                  <a:schemeClr val="tx1"/>
                </a:solidFill>
              </a:rPr>
              <a:t>Lưu rồi báo cho người dân</a:t>
            </a:r>
            <a:endParaRPr lang="en-US" sz="1300" dirty="0"/>
          </a:p>
          <a:p>
            <a:pPr marL="342900" indent="-342900">
              <a:spcAft>
                <a:spcPts val="500"/>
              </a:spcAft>
              <a:buSzPct val="100000"/>
              <a:buChar char="•"/>
            </a:pPr>
            <a:r>
              <a:rPr lang="en-US" sz="1300" dirty="0">
                <a:solidFill>
                  <a:schemeClr val="tx1"/>
                </a:solidFill>
              </a:rPr>
              <a:t>Nhận mã yêu cầu từ đường dẫn ?id=</a:t>
            </a:r>
            <a:endParaRPr lang="en-US" sz="1300" dirty="0"/>
          </a:p>
        </p:txBody>
      </p:sp>
      <p:sp>
        <p:nvSpPr>
          <p:cNvPr id="21"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2"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requireRole · URLSearchParams đọc id · so sánh r.staff với tên người dùng</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hanh màu Duệ"/>
          <p:cNvSpPr/>
          <p:nvPr/>
        </p:nvSpPr>
        <p:spPr>
          <a:xfrm>
            <a:off x="0" y="0"/>
            <a:ext cx="9144000" cy="109728"/>
          </a:xfrm>
          <a:prstGeom prst="rect">
            <a:avLst/>
          </a:prstGeom>
          <a:solidFill>
            <a:schemeClr val="accent2"/>
          </a:solidFill>
          <a:ln w="12700">
            <a:solidFill>
              <a:schemeClr val="accent2"/>
            </a:solidFill>
            <a:prstDash val="solid"/>
          </a:ln>
        </p:spPr>
      </p:sp>
      <p:sp>
        <p:nvSpPr>
          <p:cNvPr id="3" name="Text 1"/>
          <p:cNvSpPr/>
          <p:nvPr/>
        </p:nvSpPr>
        <p:spPr>
          <a:xfrm>
            <a:off x="457200" y="274320"/>
            <a:ext cx="6309360" cy="640080"/>
          </a:xfrm>
          <a:prstGeom prst="rect">
            <a:avLst/>
          </a:prstGeom>
          <a:noFill/>
          <a:ln/>
        </p:spPr>
        <p:txBody>
          <a:bodyPr wrap="square" lIns="0" tIns="0" rIns="0" bIns="0" rtlCol="0" anchor="ctr"/>
          <a:lstStyle/>
          <a:p>
            <a:pPr indent="0" marL="0">
              <a:buNone/>
            </a:pPr>
            <a:r>
              <a:rPr lang="en-US" sz="2400" b="1" dirty="0">
                <a:solidFill>
                  <a:schemeClr val="tx2"/>
                </a:solidFill>
              </a:rPr>
              <a:t>Hồ sơ, Cài đặt, Thông báo, 404</a:t>
            </a:r>
            <a:endParaRPr lang="en-US" sz="2400" dirty="0"/>
          </a:p>
        </p:txBody>
      </p:sp>
      <p:sp>
        <p:nvSpPr>
          <p:cNvPr id="4" name="Nhãn thành viên"/>
          <p:cNvSpPr/>
          <p:nvPr/>
        </p:nvSpPr>
        <p:spPr>
          <a:xfrm>
            <a:off x="6949440" y="347472"/>
            <a:ext cx="1737360" cy="411480"/>
          </a:xfrm>
          <a:prstGeom prst="roundRect">
            <a:avLst>
              <a:gd name="adj" fmla="val 17778"/>
            </a:avLst>
          </a:prstGeom>
          <a:solidFill>
            <a:schemeClr val="accent2"/>
          </a:solidFill>
          <a:ln w="12700">
            <a:solidFill>
              <a:schemeClr val="accent2"/>
            </a:solidFill>
            <a:prstDash val="solid"/>
          </a:ln>
        </p:spPr>
      </p:sp>
      <p:sp>
        <p:nvSpPr>
          <p:cNvPr id="5" name="Chữ nhãn thành viên"/>
          <p:cNvSpPr txBox="1"/>
          <p:nvPr/>
        </p:nvSpPr>
        <p:spPr>
          <a:xfrm>
            <a:off x="6949440" y="347472"/>
            <a:ext cx="1737360" cy="411480"/>
          </a:xfrm>
          <a:prstGeom prst="rect">
            <a:avLst/>
          </a:prstGeom>
          <a:noFill/>
          <a:ln/>
        </p:spPr>
        <p:txBody>
          <a:bodyPr wrap="square" lIns="0" tIns="0" rIns="0" bIns="0" rtlCol="0" anchor="ctr"/>
          <a:lstStyle/>
          <a:p>
            <a:pPr algn="ctr" indent="0" marL="0">
              <a:buNone/>
            </a:pPr>
            <a:r>
              <a:rPr lang="en-US" sz="1200" b="1" dirty="0">
                <a:solidFill>
                  <a:schemeClr val="tx1"/>
                </a:solidFill>
              </a:rPr>
              <a:t>Phần của Duệ</a:t>
            </a:r>
            <a:endParaRPr lang="en-US" sz="1200" dirty="0"/>
          </a:p>
        </p:txBody>
      </p:sp>
      <p:sp>
        <p:nvSpPr>
          <p:cNvPr id="6" name="Hồ sơ cá nhân khung"/>
          <p:cNvSpPr/>
          <p:nvPr/>
        </p:nvSpPr>
        <p:spPr>
          <a:xfrm>
            <a:off x="457200" y="1051560"/>
            <a:ext cx="1954530" cy="3017520"/>
          </a:xfrm>
          <a:prstGeom prst="roundRect">
            <a:avLst>
              <a:gd name="adj" fmla="val 3743"/>
            </a:avLst>
          </a:prstGeom>
          <a:solidFill>
            <a:schemeClr val="bg2"/>
          </a:solidFill>
          <a:ln w="12700">
            <a:solidFill>
              <a:schemeClr val="bg2"/>
            </a:solidFill>
            <a:prstDash val="solid"/>
          </a:ln>
        </p:spPr>
      </p:sp>
      <p:sp>
        <p:nvSpPr>
          <p:cNvPr id="7" name="Hồ sơ cá nhân thanh màu"/>
          <p:cNvSpPr/>
          <p:nvPr/>
        </p:nvSpPr>
        <p:spPr>
          <a:xfrm>
            <a:off x="457200" y="1161288"/>
            <a:ext cx="64008" cy="411480"/>
          </a:xfrm>
          <a:prstGeom prst="rect">
            <a:avLst/>
          </a:prstGeom>
          <a:solidFill>
            <a:schemeClr val="accent2"/>
          </a:solidFill>
          <a:ln w="12700">
            <a:solidFill>
              <a:schemeClr val="accent2"/>
            </a:solidFill>
            <a:prstDash val="solid"/>
          </a:ln>
        </p:spPr>
      </p:sp>
      <p:sp>
        <p:nvSpPr>
          <p:cNvPr id="8" name="Hồ sơ cá nhân tiêu đề"/>
          <p:cNvSpPr txBox="1"/>
          <p:nvPr/>
        </p:nvSpPr>
        <p:spPr>
          <a:xfrm>
            <a:off x="64008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Hồ sơ cá nhân</a:t>
            </a:r>
            <a:endParaRPr lang="en-US" sz="1400" dirty="0"/>
          </a:p>
        </p:txBody>
      </p:sp>
      <p:sp>
        <p:nvSpPr>
          <p:cNvPr id="9" name="Hồ sơ cá nhân tên file"/>
          <p:cNvSpPr txBox="1"/>
          <p:nvPr/>
        </p:nvSpPr>
        <p:spPr>
          <a:xfrm>
            <a:off x="64008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profile.html</a:t>
            </a:r>
            <a:endParaRPr lang="en-US" sz="800" dirty="0"/>
          </a:p>
        </p:txBody>
      </p:sp>
      <p:sp>
        <p:nvSpPr>
          <p:cNvPr id="10" name="Hồ sơ cá nhân nội dung"/>
          <p:cNvSpPr txBox="1"/>
          <p:nvPr/>
        </p:nvSpPr>
        <p:spPr>
          <a:xfrm>
            <a:off x="64008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Xem họ tên, email, vai trò (không sửa)</a:t>
            </a:r>
            <a:endParaRPr lang="en-US" sz="1200" dirty="0"/>
          </a:p>
          <a:p>
            <a:pPr marL="342900" indent="-342900">
              <a:spcAft>
                <a:spcPts val="500"/>
              </a:spcAft>
              <a:buSzPct val="100000"/>
              <a:buChar char="•"/>
            </a:pPr>
            <a:r>
              <a:rPr lang="en-US" sz="1200" dirty="0">
                <a:solidFill>
                  <a:schemeClr val="tx1"/>
                </a:solidFill>
              </a:rPr>
              <a:t>Sửa số điện thoại và địa chỉ</a:t>
            </a:r>
            <a:endParaRPr lang="en-US" sz="1200" dirty="0"/>
          </a:p>
          <a:p>
            <a:pPr marL="342900" indent="-342900">
              <a:spcAft>
                <a:spcPts val="500"/>
              </a:spcAft>
              <a:buSzPct val="100000"/>
              <a:buChar char="•"/>
            </a:pPr>
            <a:r>
              <a:rPr lang="en-US" sz="1200" dirty="0">
                <a:solidFill>
                  <a:schemeClr val="tx1"/>
                </a:solidFill>
              </a:rPr>
              <a:t>Lưu vào danh sách tài khoản</a:t>
            </a:r>
            <a:endParaRPr lang="en-US" sz="1200" dirty="0"/>
          </a:p>
        </p:txBody>
      </p:sp>
      <p:sp>
        <p:nvSpPr>
          <p:cNvPr id="11" name="Cài đặt khung"/>
          <p:cNvSpPr/>
          <p:nvPr/>
        </p:nvSpPr>
        <p:spPr>
          <a:xfrm>
            <a:off x="2548890" y="1051560"/>
            <a:ext cx="1954530" cy="3017520"/>
          </a:xfrm>
          <a:prstGeom prst="roundRect">
            <a:avLst>
              <a:gd name="adj" fmla="val 3743"/>
            </a:avLst>
          </a:prstGeom>
          <a:solidFill>
            <a:schemeClr val="bg2"/>
          </a:solidFill>
          <a:ln w="12700">
            <a:solidFill>
              <a:schemeClr val="bg2"/>
            </a:solidFill>
            <a:prstDash val="solid"/>
          </a:ln>
        </p:spPr>
      </p:sp>
      <p:sp>
        <p:nvSpPr>
          <p:cNvPr id="12" name="Cài đặt thanh màu"/>
          <p:cNvSpPr/>
          <p:nvPr/>
        </p:nvSpPr>
        <p:spPr>
          <a:xfrm>
            <a:off x="2548890" y="1161288"/>
            <a:ext cx="64008" cy="411480"/>
          </a:xfrm>
          <a:prstGeom prst="rect">
            <a:avLst/>
          </a:prstGeom>
          <a:solidFill>
            <a:schemeClr val="accent2"/>
          </a:solidFill>
          <a:ln w="12700">
            <a:solidFill>
              <a:schemeClr val="accent2"/>
            </a:solidFill>
            <a:prstDash val="solid"/>
          </a:ln>
        </p:spPr>
      </p:sp>
      <p:sp>
        <p:nvSpPr>
          <p:cNvPr id="13" name="Cài đặt tiêu đề"/>
          <p:cNvSpPr txBox="1"/>
          <p:nvPr/>
        </p:nvSpPr>
        <p:spPr>
          <a:xfrm>
            <a:off x="273177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Cài đặt</a:t>
            </a:r>
            <a:endParaRPr lang="en-US" sz="1400" dirty="0"/>
          </a:p>
        </p:txBody>
      </p:sp>
      <p:sp>
        <p:nvSpPr>
          <p:cNvPr id="14" name="Cài đặt tên file"/>
          <p:cNvSpPr txBox="1"/>
          <p:nvPr/>
        </p:nvSpPr>
        <p:spPr>
          <a:xfrm>
            <a:off x="273177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settings.html</a:t>
            </a:r>
            <a:endParaRPr lang="en-US" sz="800" dirty="0"/>
          </a:p>
        </p:txBody>
      </p:sp>
      <p:sp>
        <p:nvSpPr>
          <p:cNvPr id="15" name="Cài đặt nội dung"/>
          <p:cNvSpPr txBox="1"/>
          <p:nvPr/>
        </p:nvSpPr>
        <p:spPr>
          <a:xfrm>
            <a:off x="273177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Bật tắt chế độ tối cho từng người</a:t>
            </a:r>
            <a:endParaRPr lang="en-US" sz="1200" dirty="0"/>
          </a:p>
          <a:p>
            <a:pPr marL="342900" indent="-342900">
              <a:spcAft>
                <a:spcPts val="500"/>
              </a:spcAft>
              <a:buSzPct val="100000"/>
              <a:buChar char="•"/>
            </a:pPr>
            <a:r>
              <a:rPr lang="en-US" sz="1200" dirty="0">
                <a:solidFill>
                  <a:schemeClr val="tx1"/>
                </a:solidFill>
              </a:rPr>
              <a:t>Bật tắt thông báo: ẩn số trên chuông</a:t>
            </a:r>
            <a:endParaRPr lang="en-US" sz="1200" dirty="0"/>
          </a:p>
          <a:p>
            <a:pPr marL="342900" indent="-342900">
              <a:spcAft>
                <a:spcPts val="500"/>
              </a:spcAft>
              <a:buSzPct val="100000"/>
              <a:buChar char="•"/>
            </a:pPr>
            <a:r>
              <a:rPr lang="en-US" sz="1200" dirty="0">
                <a:solidFill>
                  <a:schemeClr val="tx1"/>
                </a:solidFill>
              </a:rPr>
              <a:t>Đổi mật khẩu, kiểm tra mật khẩu cũ</a:t>
            </a:r>
            <a:endParaRPr lang="en-US" sz="1200" dirty="0"/>
          </a:p>
        </p:txBody>
      </p:sp>
      <p:sp>
        <p:nvSpPr>
          <p:cNvPr id="16" name="Thông báo khung"/>
          <p:cNvSpPr/>
          <p:nvPr/>
        </p:nvSpPr>
        <p:spPr>
          <a:xfrm>
            <a:off x="4640580" y="1051560"/>
            <a:ext cx="1954530" cy="3017520"/>
          </a:xfrm>
          <a:prstGeom prst="roundRect">
            <a:avLst>
              <a:gd name="adj" fmla="val 3743"/>
            </a:avLst>
          </a:prstGeom>
          <a:solidFill>
            <a:schemeClr val="bg2"/>
          </a:solidFill>
          <a:ln w="12700">
            <a:solidFill>
              <a:schemeClr val="bg2"/>
            </a:solidFill>
            <a:prstDash val="solid"/>
          </a:ln>
        </p:spPr>
      </p:sp>
      <p:sp>
        <p:nvSpPr>
          <p:cNvPr id="17" name="Thông báo thanh màu"/>
          <p:cNvSpPr/>
          <p:nvPr/>
        </p:nvSpPr>
        <p:spPr>
          <a:xfrm>
            <a:off x="4640580" y="1161288"/>
            <a:ext cx="64008" cy="411480"/>
          </a:xfrm>
          <a:prstGeom prst="rect">
            <a:avLst/>
          </a:prstGeom>
          <a:solidFill>
            <a:schemeClr val="accent2"/>
          </a:solidFill>
          <a:ln w="12700">
            <a:solidFill>
              <a:schemeClr val="accent2"/>
            </a:solidFill>
            <a:prstDash val="solid"/>
          </a:ln>
        </p:spPr>
      </p:sp>
      <p:sp>
        <p:nvSpPr>
          <p:cNvPr id="18" name="Thông báo tiêu đề"/>
          <p:cNvSpPr txBox="1"/>
          <p:nvPr/>
        </p:nvSpPr>
        <p:spPr>
          <a:xfrm>
            <a:off x="482346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Thông báo</a:t>
            </a:r>
            <a:endParaRPr lang="en-US" sz="1400" dirty="0"/>
          </a:p>
        </p:txBody>
      </p:sp>
      <p:sp>
        <p:nvSpPr>
          <p:cNvPr id="19" name="Thông báo tên file"/>
          <p:cNvSpPr txBox="1"/>
          <p:nvPr/>
        </p:nvSpPr>
        <p:spPr>
          <a:xfrm>
            <a:off x="482346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notifications.html</a:t>
            </a:r>
            <a:endParaRPr lang="en-US" sz="800" dirty="0"/>
          </a:p>
        </p:txBody>
      </p:sp>
      <p:sp>
        <p:nvSpPr>
          <p:cNvPr id="20" name="Thông báo nội dung"/>
          <p:cNvSpPr txBox="1"/>
          <p:nvPr/>
        </p:nvSpPr>
        <p:spPr>
          <a:xfrm>
            <a:off x="482346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Thông báo của mình, mới nhất lên đầu</a:t>
            </a:r>
            <a:endParaRPr lang="en-US" sz="1200" dirty="0"/>
          </a:p>
          <a:p>
            <a:pPr marL="342900" indent="-342900">
              <a:spcAft>
                <a:spcPts val="500"/>
              </a:spcAft>
              <a:buSzPct val="100000"/>
              <a:buChar char="•"/>
            </a:pPr>
            <a:r>
              <a:rPr lang="en-US" sz="1200" dirty="0">
                <a:solidFill>
                  <a:schemeClr val="tx1"/>
                </a:solidFill>
              </a:rPr>
              <a:t>Nhãn Mới, tự đánh dấu đã đọc</a:t>
            </a:r>
            <a:endParaRPr lang="en-US" sz="1200" dirty="0"/>
          </a:p>
          <a:p>
            <a:pPr marL="342900" indent="-342900">
              <a:spcAft>
                <a:spcPts val="500"/>
              </a:spcAft>
              <a:buSzPct val="100000"/>
              <a:buChar char="•"/>
            </a:pPr>
            <a:r>
              <a:rPr lang="en-US" sz="1200" dirty="0">
                <a:solidFill>
                  <a:schemeClr val="tx1"/>
                </a:solidFill>
              </a:rPr>
              <a:t>Xóa tất cả thông báo của mình</a:t>
            </a:r>
            <a:endParaRPr lang="en-US" sz="1200" dirty="0"/>
          </a:p>
          <a:p>
            <a:pPr marL="342900" indent="-342900">
              <a:spcAft>
                <a:spcPts val="500"/>
              </a:spcAft>
              <a:buSzPct val="100000"/>
              <a:buChar char="•"/>
            </a:pPr>
            <a:r>
              <a:rPr lang="en-US" sz="1200" dirty="0">
                <a:solidFill>
                  <a:schemeClr val="tx1"/>
                </a:solidFill>
              </a:rPr>
              <a:t>Số trên chuông cập nhật ngay</a:t>
            </a:r>
            <a:endParaRPr lang="en-US" sz="1200" dirty="0"/>
          </a:p>
        </p:txBody>
      </p:sp>
      <p:sp>
        <p:nvSpPr>
          <p:cNvPr id="21" name="Trang 404 khung"/>
          <p:cNvSpPr/>
          <p:nvPr/>
        </p:nvSpPr>
        <p:spPr>
          <a:xfrm>
            <a:off x="6732270" y="1051560"/>
            <a:ext cx="1954530" cy="3017520"/>
          </a:xfrm>
          <a:prstGeom prst="roundRect">
            <a:avLst>
              <a:gd name="adj" fmla="val 3743"/>
            </a:avLst>
          </a:prstGeom>
          <a:solidFill>
            <a:schemeClr val="bg2"/>
          </a:solidFill>
          <a:ln w="12700">
            <a:solidFill>
              <a:schemeClr val="bg2"/>
            </a:solidFill>
            <a:prstDash val="solid"/>
          </a:ln>
        </p:spPr>
      </p:sp>
      <p:sp>
        <p:nvSpPr>
          <p:cNvPr id="22" name="Trang 404 thanh màu"/>
          <p:cNvSpPr/>
          <p:nvPr/>
        </p:nvSpPr>
        <p:spPr>
          <a:xfrm>
            <a:off x="6732270" y="1161288"/>
            <a:ext cx="64008" cy="411480"/>
          </a:xfrm>
          <a:prstGeom prst="rect">
            <a:avLst/>
          </a:prstGeom>
          <a:solidFill>
            <a:schemeClr val="accent2"/>
          </a:solidFill>
          <a:ln w="12700">
            <a:solidFill>
              <a:schemeClr val="accent2"/>
            </a:solidFill>
            <a:prstDash val="solid"/>
          </a:ln>
        </p:spPr>
      </p:sp>
      <p:sp>
        <p:nvSpPr>
          <p:cNvPr id="23" name="Trang 404 tiêu đề"/>
          <p:cNvSpPr txBox="1"/>
          <p:nvPr/>
        </p:nvSpPr>
        <p:spPr>
          <a:xfrm>
            <a:off x="6915150" y="1143000"/>
            <a:ext cx="1680210" cy="457200"/>
          </a:xfrm>
          <a:prstGeom prst="rect">
            <a:avLst/>
          </a:prstGeom>
          <a:noFill/>
          <a:ln/>
        </p:spPr>
        <p:txBody>
          <a:bodyPr wrap="square" lIns="0" tIns="0" rIns="0" bIns="0" rtlCol="0" anchor="ctr"/>
          <a:lstStyle/>
          <a:p>
            <a:pPr indent="0" marL="0">
              <a:buNone/>
            </a:pPr>
            <a:r>
              <a:rPr lang="en-US" sz="1400" b="1" dirty="0">
                <a:solidFill>
                  <a:schemeClr val="tx2"/>
                </a:solidFill>
              </a:rPr>
              <a:t>Trang 404</a:t>
            </a:r>
            <a:endParaRPr lang="en-US" sz="1400" dirty="0"/>
          </a:p>
        </p:txBody>
      </p:sp>
      <p:sp>
        <p:nvSpPr>
          <p:cNvPr id="24" name="Trang 404 tên file"/>
          <p:cNvSpPr txBox="1"/>
          <p:nvPr/>
        </p:nvSpPr>
        <p:spPr>
          <a:xfrm>
            <a:off x="6915150" y="1645920"/>
            <a:ext cx="1680210" cy="320040"/>
          </a:xfrm>
          <a:prstGeom prst="rect">
            <a:avLst/>
          </a:prstGeom>
          <a:noFill/>
          <a:ln/>
        </p:spPr>
        <p:txBody>
          <a:bodyPr wrap="square" lIns="0" tIns="0" rIns="0" bIns="0" rtlCol="0" anchor="t"/>
          <a:lstStyle/>
          <a:p>
            <a:pPr indent="0" marL="0">
              <a:buNone/>
            </a:pPr>
            <a:r>
              <a:rPr lang="en-US" sz="800" dirty="0">
                <a:solidFill>
                  <a:schemeClr val="accent5"/>
                </a:solidFill>
              </a:rPr>
              <a:t>404.html</a:t>
            </a:r>
            <a:endParaRPr lang="en-US" sz="800" dirty="0"/>
          </a:p>
        </p:txBody>
      </p:sp>
      <p:sp>
        <p:nvSpPr>
          <p:cNvPr id="25" name="Trang 404 nội dung"/>
          <p:cNvSpPr txBox="1"/>
          <p:nvPr/>
        </p:nvSpPr>
        <p:spPr>
          <a:xfrm>
            <a:off x="6915150" y="2011680"/>
            <a:ext cx="163449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Hiện khi đường dẫn không tồn tại</a:t>
            </a:r>
            <a:endParaRPr lang="en-US" sz="1200" dirty="0"/>
          </a:p>
          <a:p>
            <a:pPr marL="342900" indent="-342900">
              <a:spcAft>
                <a:spcPts val="500"/>
              </a:spcAft>
              <a:buSzPct val="100000"/>
              <a:buChar char="•"/>
            </a:pPr>
            <a:r>
              <a:rPr lang="en-US" sz="1200" dirty="0">
                <a:solidFill>
                  <a:schemeClr val="tx1"/>
                </a:solidFill>
              </a:rPr>
              <a:t>Nút Quay lại và Về trang chủ</a:t>
            </a:r>
            <a:endParaRPr lang="en-US" sz="1200" dirty="0"/>
          </a:p>
        </p:txBody>
      </p:sp>
      <p:sp>
        <p:nvSpPr>
          <p:cNvPr id="26" name="Khung kỹ thuật"/>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7" name="Chữ kỹ thuật"/>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200" dirty="0">
                <a:solidFill>
                  <a:schemeClr val="bg1"/>
                </a:solidFill>
              </a:rPr>
              <a:t>Kỹ thuật: lưu cài đặt riêng theo email · data-bs-theme của Bootstrap · hàm notify() dùng chung</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Ghép 3 phần: luồng nghiệp vụ</a:t>
            </a:r>
            <a:endParaRPr lang="en-US" sz="2800" dirty="0"/>
          </a:p>
        </p:txBody>
      </p:sp>
      <p:sp>
        <p:nvSpPr>
          <p:cNvPr id="3" name="Bước 1"/>
          <p:cNvSpPr/>
          <p:nvPr/>
        </p:nvSpPr>
        <p:spPr>
          <a:xfrm>
            <a:off x="457200" y="1188720"/>
            <a:ext cx="1737360" cy="2011680"/>
          </a:xfrm>
          <a:prstGeom prst="roundRect">
            <a:avLst>
              <a:gd name="adj" fmla="val 4211"/>
            </a:avLst>
          </a:prstGeom>
          <a:solidFill>
            <a:schemeClr val="bg2"/>
          </a:solidFill>
          <a:ln w="25400">
            <a:solidFill>
              <a:schemeClr val="accent1"/>
            </a:solidFill>
            <a:prstDash val="solid"/>
          </a:ln>
        </p:spPr>
      </p:sp>
      <p:sp>
        <p:nvSpPr>
          <p:cNvPr id="4" name="Số 1"/>
          <p:cNvSpPr/>
          <p:nvPr/>
        </p:nvSpPr>
        <p:spPr>
          <a:xfrm>
            <a:off x="1143000" y="1280160"/>
            <a:ext cx="365760" cy="365760"/>
          </a:xfrm>
          <a:prstGeom prst="ellipse">
            <a:avLst/>
          </a:prstGeom>
          <a:solidFill>
            <a:schemeClr val="accent1"/>
          </a:solidFill>
          <a:ln w="12700">
            <a:solidFill>
              <a:schemeClr val="accent1"/>
            </a:solidFill>
            <a:prstDash val="solid"/>
          </a:ln>
        </p:spPr>
      </p:sp>
      <p:sp>
        <p:nvSpPr>
          <p:cNvPr id="5" name="Số bước 1"/>
          <p:cNvSpPr txBox="1"/>
          <p:nvPr/>
        </p:nvSpPr>
        <p:spPr>
          <a:xfrm>
            <a:off x="114300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Nội dung bước 1"/>
          <p:cNvSpPr txBox="1"/>
          <p:nvPr/>
        </p:nvSpPr>
        <p:spPr>
          <a:xfrm>
            <a:off x="548640" y="1737360"/>
            <a:ext cx="1554480" cy="822960"/>
          </a:xfrm>
          <a:prstGeom prst="rect">
            <a:avLst/>
          </a:prstGeom>
          <a:noFill/>
          <a:ln/>
        </p:spPr>
        <p:txBody>
          <a:bodyPr wrap="square" lIns="0" tIns="0" rIns="0" bIns="0" rtlCol="0" anchor="t"/>
          <a:lstStyle/>
          <a:p>
            <a:pPr algn="ctr" indent="0" marL="0">
              <a:buNone/>
            </a:pPr>
            <a:r>
              <a:rPr lang="en-US" sz="1500" b="1" dirty="0">
                <a:solidFill>
                  <a:schemeClr val="tx1"/>
                </a:solidFill>
              </a:rPr>
              <a:t>Người dân</a:t>
            </a:r>
            <a:endParaRPr lang="en-US" sz="1500" dirty="0"/>
          </a:p>
          <a:p>
            <a:pPr algn="ctr" indent="0" marL="0">
              <a:buNone/>
            </a:pPr>
            <a:r>
              <a:rPr lang="en-US" sz="1200" dirty="0">
                <a:solidFill>
                  <a:schemeClr val="tx1"/>
                </a:solidFill>
              </a:rPr>
              <a:t>gửi yêu cầu</a:t>
            </a:r>
            <a:endParaRPr lang="en-US" sz="1500" dirty="0"/>
          </a:p>
        </p:txBody>
      </p:sp>
      <p:sp>
        <p:nvSpPr>
          <p:cNvPr id="7" name="Chủ phần 1"/>
          <p:cNvSpPr/>
          <p:nvPr/>
        </p:nvSpPr>
        <p:spPr>
          <a:xfrm>
            <a:off x="822960" y="2697480"/>
            <a:ext cx="1005840" cy="320040"/>
          </a:xfrm>
          <a:prstGeom prst="roundRect">
            <a:avLst>
              <a:gd name="adj" fmla="val 22857"/>
            </a:avLst>
          </a:prstGeom>
          <a:solidFill>
            <a:schemeClr val="accent1"/>
          </a:solidFill>
          <a:ln w="12700">
            <a:solidFill>
              <a:schemeClr val="accent1"/>
            </a:solidFill>
            <a:prstDash val="solid"/>
          </a:ln>
        </p:spPr>
      </p:sp>
      <p:sp>
        <p:nvSpPr>
          <p:cNvPr id="8" name="Chữ chủ phần 1"/>
          <p:cNvSpPr txBox="1"/>
          <p:nvPr/>
        </p:nvSpPr>
        <p:spPr>
          <a:xfrm>
            <a:off x="822960" y="2697480"/>
            <a:ext cx="1005840" cy="320040"/>
          </a:xfrm>
          <a:prstGeom prst="rect">
            <a:avLst/>
          </a:prstGeom>
          <a:noFill/>
          <a:ln/>
        </p:spPr>
        <p:txBody>
          <a:bodyPr wrap="square" lIns="0" tIns="0" rIns="0" bIns="0" rtlCol="0" anchor="ctr"/>
          <a:lstStyle/>
          <a:p>
            <a:pPr algn="ctr" indent="0" marL="0">
              <a:buNone/>
            </a:pPr>
            <a:r>
              <a:rPr lang="en-US" sz="1100" b="1" dirty="0">
                <a:solidFill>
                  <a:schemeClr val="bg1"/>
                </a:solidFill>
              </a:rPr>
              <a:t>Phần Cảnh</a:t>
            </a:r>
            <a:endParaRPr lang="en-US" sz="1100" dirty="0"/>
          </a:p>
        </p:txBody>
      </p:sp>
      <p:sp>
        <p:nvSpPr>
          <p:cNvPr id="9" name="Mũi tên 1"/>
          <p:cNvSpPr/>
          <p:nvPr/>
        </p:nvSpPr>
        <p:spPr>
          <a:xfrm>
            <a:off x="2240280" y="2011680"/>
            <a:ext cx="320040" cy="274320"/>
          </a:xfrm>
          <a:prstGeom prst="rightArrow">
            <a:avLst/>
          </a:prstGeom>
          <a:solidFill>
            <a:schemeClr val="accent5"/>
          </a:solidFill>
          <a:ln w="12700">
            <a:solidFill>
              <a:schemeClr val="accent5"/>
            </a:solidFill>
            <a:prstDash val="solid"/>
          </a:ln>
        </p:spPr>
      </p:sp>
      <p:sp>
        <p:nvSpPr>
          <p:cNvPr id="10" name="Bước 2"/>
          <p:cNvSpPr/>
          <p:nvPr/>
        </p:nvSpPr>
        <p:spPr>
          <a:xfrm>
            <a:off x="2606040" y="1188720"/>
            <a:ext cx="1737360" cy="2011680"/>
          </a:xfrm>
          <a:prstGeom prst="roundRect">
            <a:avLst>
              <a:gd name="adj" fmla="val 4211"/>
            </a:avLst>
          </a:prstGeom>
          <a:solidFill>
            <a:schemeClr val="bg2"/>
          </a:solidFill>
          <a:ln w="25400">
            <a:solidFill>
              <a:schemeClr val="accent3"/>
            </a:solidFill>
            <a:prstDash val="solid"/>
          </a:ln>
        </p:spPr>
      </p:sp>
      <p:sp>
        <p:nvSpPr>
          <p:cNvPr id="11" name="Số 2"/>
          <p:cNvSpPr/>
          <p:nvPr/>
        </p:nvSpPr>
        <p:spPr>
          <a:xfrm>
            <a:off x="3291840" y="1280160"/>
            <a:ext cx="365760" cy="365760"/>
          </a:xfrm>
          <a:prstGeom prst="ellipse">
            <a:avLst/>
          </a:prstGeom>
          <a:solidFill>
            <a:schemeClr val="accent3"/>
          </a:solidFill>
          <a:ln w="12700">
            <a:solidFill>
              <a:schemeClr val="accent3"/>
            </a:solidFill>
            <a:prstDash val="solid"/>
          </a:ln>
        </p:spPr>
      </p:sp>
      <p:sp>
        <p:nvSpPr>
          <p:cNvPr id="12" name="Số bước 2"/>
          <p:cNvSpPr txBox="1"/>
          <p:nvPr/>
        </p:nvSpPr>
        <p:spPr>
          <a:xfrm>
            <a:off x="329184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Nội dung bước 2"/>
          <p:cNvSpPr txBox="1"/>
          <p:nvPr/>
        </p:nvSpPr>
        <p:spPr>
          <a:xfrm>
            <a:off x="2697480" y="1737360"/>
            <a:ext cx="1554480" cy="822960"/>
          </a:xfrm>
          <a:prstGeom prst="rect">
            <a:avLst/>
          </a:prstGeom>
          <a:noFill/>
          <a:ln/>
        </p:spPr>
        <p:txBody>
          <a:bodyPr wrap="square" lIns="0" tIns="0" rIns="0" bIns="0" rtlCol="0" anchor="t"/>
          <a:lstStyle/>
          <a:p>
            <a:pPr algn="ctr" indent="0" marL="0">
              <a:buNone/>
            </a:pPr>
            <a:r>
              <a:rPr lang="en-US" sz="1500" b="1" dirty="0">
                <a:solidFill>
                  <a:schemeClr val="tx1"/>
                </a:solidFill>
              </a:rPr>
              <a:t>Điều phối viên</a:t>
            </a:r>
            <a:endParaRPr lang="en-US" sz="1500" dirty="0"/>
          </a:p>
          <a:p>
            <a:pPr algn="ctr" indent="0" marL="0">
              <a:buNone/>
            </a:pPr>
            <a:r>
              <a:rPr lang="en-US" sz="1200" dirty="0">
                <a:solidFill>
                  <a:schemeClr val="tx1"/>
                </a:solidFill>
              </a:rPr>
              <a:t>giao việc</a:t>
            </a:r>
            <a:endParaRPr lang="en-US" sz="1500" dirty="0"/>
          </a:p>
        </p:txBody>
      </p:sp>
      <p:sp>
        <p:nvSpPr>
          <p:cNvPr id="14" name="Chủ phần 2"/>
          <p:cNvSpPr/>
          <p:nvPr/>
        </p:nvSpPr>
        <p:spPr>
          <a:xfrm>
            <a:off x="2971800" y="2697480"/>
            <a:ext cx="1005840" cy="320040"/>
          </a:xfrm>
          <a:prstGeom prst="roundRect">
            <a:avLst>
              <a:gd name="adj" fmla="val 22857"/>
            </a:avLst>
          </a:prstGeom>
          <a:solidFill>
            <a:schemeClr val="accent3"/>
          </a:solidFill>
          <a:ln w="12700">
            <a:solidFill>
              <a:schemeClr val="accent3"/>
            </a:solidFill>
            <a:prstDash val="solid"/>
          </a:ln>
        </p:spPr>
      </p:sp>
      <p:sp>
        <p:nvSpPr>
          <p:cNvPr id="15" name="Chữ chủ phần 2"/>
          <p:cNvSpPr txBox="1"/>
          <p:nvPr/>
        </p:nvSpPr>
        <p:spPr>
          <a:xfrm>
            <a:off x="2971800" y="2697480"/>
            <a:ext cx="1005840" cy="320040"/>
          </a:xfrm>
          <a:prstGeom prst="rect">
            <a:avLst/>
          </a:prstGeom>
          <a:noFill/>
          <a:ln/>
        </p:spPr>
        <p:txBody>
          <a:bodyPr wrap="square" lIns="0" tIns="0" rIns="0" bIns="0" rtlCol="0" anchor="ctr"/>
          <a:lstStyle/>
          <a:p>
            <a:pPr algn="ctr" indent="0" marL="0">
              <a:buNone/>
            </a:pPr>
            <a:r>
              <a:rPr lang="en-US" sz="1100" b="1" dirty="0">
                <a:solidFill>
                  <a:schemeClr val="bg1"/>
                </a:solidFill>
              </a:rPr>
              <a:t>Phần Quang</a:t>
            </a:r>
            <a:endParaRPr lang="en-US" sz="1100" dirty="0"/>
          </a:p>
        </p:txBody>
      </p:sp>
      <p:sp>
        <p:nvSpPr>
          <p:cNvPr id="16" name="Mũi tên 2"/>
          <p:cNvSpPr/>
          <p:nvPr/>
        </p:nvSpPr>
        <p:spPr>
          <a:xfrm>
            <a:off x="4389120" y="2011680"/>
            <a:ext cx="320040" cy="274320"/>
          </a:xfrm>
          <a:prstGeom prst="rightArrow">
            <a:avLst/>
          </a:prstGeom>
          <a:solidFill>
            <a:schemeClr val="accent5"/>
          </a:solidFill>
          <a:ln w="12700">
            <a:solidFill>
              <a:schemeClr val="accent5"/>
            </a:solidFill>
            <a:prstDash val="solid"/>
          </a:ln>
        </p:spPr>
      </p:sp>
      <p:sp>
        <p:nvSpPr>
          <p:cNvPr id="17" name="Bước 3"/>
          <p:cNvSpPr/>
          <p:nvPr/>
        </p:nvSpPr>
        <p:spPr>
          <a:xfrm>
            <a:off x="4754880" y="1188720"/>
            <a:ext cx="1737360" cy="2011680"/>
          </a:xfrm>
          <a:prstGeom prst="roundRect">
            <a:avLst>
              <a:gd name="adj" fmla="val 4211"/>
            </a:avLst>
          </a:prstGeom>
          <a:solidFill>
            <a:schemeClr val="bg2"/>
          </a:solidFill>
          <a:ln w="25400">
            <a:solidFill>
              <a:schemeClr val="accent2"/>
            </a:solidFill>
            <a:prstDash val="solid"/>
          </a:ln>
        </p:spPr>
      </p:sp>
      <p:sp>
        <p:nvSpPr>
          <p:cNvPr id="18" name="Số 3"/>
          <p:cNvSpPr/>
          <p:nvPr/>
        </p:nvSpPr>
        <p:spPr>
          <a:xfrm>
            <a:off x="5440680" y="1280160"/>
            <a:ext cx="365760" cy="365760"/>
          </a:xfrm>
          <a:prstGeom prst="ellipse">
            <a:avLst/>
          </a:prstGeom>
          <a:solidFill>
            <a:schemeClr val="accent2"/>
          </a:solidFill>
          <a:ln w="12700">
            <a:solidFill>
              <a:schemeClr val="accent2"/>
            </a:solidFill>
            <a:prstDash val="solid"/>
          </a:ln>
        </p:spPr>
      </p:sp>
      <p:sp>
        <p:nvSpPr>
          <p:cNvPr id="19" name="Số bước 3"/>
          <p:cNvSpPr txBox="1"/>
          <p:nvPr/>
        </p:nvSpPr>
        <p:spPr>
          <a:xfrm>
            <a:off x="5440680" y="12801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Nội dung bước 3"/>
          <p:cNvSpPr txBox="1"/>
          <p:nvPr/>
        </p:nvSpPr>
        <p:spPr>
          <a:xfrm>
            <a:off x="4846320" y="1737360"/>
            <a:ext cx="1554480" cy="822960"/>
          </a:xfrm>
          <a:prstGeom prst="rect">
            <a:avLst/>
          </a:prstGeom>
          <a:noFill/>
          <a:ln/>
        </p:spPr>
        <p:txBody>
          <a:bodyPr wrap="square" lIns="0" tIns="0" rIns="0" bIns="0" rtlCol="0" anchor="t"/>
          <a:lstStyle/>
          <a:p>
            <a:pPr algn="ctr" indent="0" marL="0">
              <a:buNone/>
            </a:pPr>
            <a:r>
              <a:rPr lang="en-US" sz="1500" b="1" dirty="0">
                <a:solidFill>
                  <a:schemeClr val="tx1"/>
                </a:solidFill>
              </a:rPr>
              <a:t>Nhân viên</a:t>
            </a:r>
            <a:endParaRPr lang="en-US" sz="1500" dirty="0"/>
          </a:p>
          <a:p>
            <a:pPr algn="ctr" indent="0" marL="0">
              <a:buNone/>
            </a:pPr>
            <a:r>
              <a:rPr lang="en-US" sz="1200" dirty="0">
                <a:solidFill>
                  <a:schemeClr val="tx1"/>
                </a:solidFill>
              </a:rPr>
              <a:t>xử lý, cập nhật</a:t>
            </a:r>
            <a:endParaRPr lang="en-US" sz="1500" dirty="0"/>
          </a:p>
        </p:txBody>
      </p:sp>
      <p:sp>
        <p:nvSpPr>
          <p:cNvPr id="21" name="Chủ phần 3"/>
          <p:cNvSpPr/>
          <p:nvPr/>
        </p:nvSpPr>
        <p:spPr>
          <a:xfrm>
            <a:off x="5120640" y="2697480"/>
            <a:ext cx="1005840" cy="320040"/>
          </a:xfrm>
          <a:prstGeom prst="roundRect">
            <a:avLst>
              <a:gd name="adj" fmla="val 22857"/>
            </a:avLst>
          </a:prstGeom>
          <a:solidFill>
            <a:schemeClr val="accent2"/>
          </a:solidFill>
          <a:ln w="12700">
            <a:solidFill>
              <a:schemeClr val="accent2"/>
            </a:solidFill>
            <a:prstDash val="solid"/>
          </a:ln>
        </p:spPr>
      </p:sp>
      <p:sp>
        <p:nvSpPr>
          <p:cNvPr id="22" name="Chữ chủ phần 3"/>
          <p:cNvSpPr txBox="1"/>
          <p:nvPr/>
        </p:nvSpPr>
        <p:spPr>
          <a:xfrm>
            <a:off x="5120640" y="2697480"/>
            <a:ext cx="1005840" cy="320040"/>
          </a:xfrm>
          <a:prstGeom prst="rect">
            <a:avLst/>
          </a:prstGeom>
          <a:noFill/>
          <a:ln/>
        </p:spPr>
        <p:txBody>
          <a:bodyPr wrap="square" lIns="0" tIns="0" rIns="0" bIns="0" rtlCol="0" anchor="ctr"/>
          <a:lstStyle/>
          <a:p>
            <a:pPr algn="ctr" indent="0" marL="0">
              <a:buNone/>
            </a:pPr>
            <a:r>
              <a:rPr lang="en-US" sz="1100" b="1" dirty="0">
                <a:solidFill>
                  <a:schemeClr val="tx1"/>
                </a:solidFill>
              </a:rPr>
              <a:t>Phần Duệ</a:t>
            </a:r>
            <a:endParaRPr lang="en-US" sz="1100" dirty="0"/>
          </a:p>
        </p:txBody>
      </p:sp>
      <p:sp>
        <p:nvSpPr>
          <p:cNvPr id="23" name="Mũi tên 3"/>
          <p:cNvSpPr/>
          <p:nvPr/>
        </p:nvSpPr>
        <p:spPr>
          <a:xfrm>
            <a:off x="6537960" y="2011680"/>
            <a:ext cx="320040" cy="274320"/>
          </a:xfrm>
          <a:prstGeom prst="rightArrow">
            <a:avLst/>
          </a:prstGeom>
          <a:solidFill>
            <a:schemeClr val="accent5"/>
          </a:solidFill>
          <a:ln w="12700">
            <a:solidFill>
              <a:schemeClr val="accent5"/>
            </a:solidFill>
            <a:prstDash val="solid"/>
          </a:ln>
        </p:spPr>
      </p:sp>
      <p:sp>
        <p:nvSpPr>
          <p:cNvPr id="24" name="Bước 4"/>
          <p:cNvSpPr/>
          <p:nvPr/>
        </p:nvSpPr>
        <p:spPr>
          <a:xfrm>
            <a:off x="6903720" y="1188720"/>
            <a:ext cx="1737360" cy="2011680"/>
          </a:xfrm>
          <a:prstGeom prst="roundRect">
            <a:avLst>
              <a:gd name="adj" fmla="val 4211"/>
            </a:avLst>
          </a:prstGeom>
          <a:solidFill>
            <a:schemeClr val="bg2"/>
          </a:solidFill>
          <a:ln w="25400">
            <a:solidFill>
              <a:schemeClr val="accent2"/>
            </a:solidFill>
            <a:prstDash val="solid"/>
          </a:ln>
        </p:spPr>
      </p:sp>
      <p:sp>
        <p:nvSpPr>
          <p:cNvPr id="25" name="Số 4"/>
          <p:cNvSpPr/>
          <p:nvPr/>
        </p:nvSpPr>
        <p:spPr>
          <a:xfrm>
            <a:off x="7589520" y="1280160"/>
            <a:ext cx="365760" cy="365760"/>
          </a:xfrm>
          <a:prstGeom prst="ellipse">
            <a:avLst/>
          </a:prstGeom>
          <a:solidFill>
            <a:schemeClr val="accent2"/>
          </a:solidFill>
          <a:ln w="12700">
            <a:solidFill>
              <a:schemeClr val="accent2"/>
            </a:solidFill>
            <a:prstDash val="solid"/>
          </a:ln>
        </p:spPr>
      </p:sp>
      <p:sp>
        <p:nvSpPr>
          <p:cNvPr id="26" name="Số bước 4"/>
          <p:cNvSpPr txBox="1"/>
          <p:nvPr/>
        </p:nvSpPr>
        <p:spPr>
          <a:xfrm>
            <a:off x="7589520" y="12801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7" name="Nội dung bước 4"/>
          <p:cNvSpPr txBox="1"/>
          <p:nvPr/>
        </p:nvSpPr>
        <p:spPr>
          <a:xfrm>
            <a:off x="6995160" y="1737360"/>
            <a:ext cx="1554480" cy="822960"/>
          </a:xfrm>
          <a:prstGeom prst="rect">
            <a:avLst/>
          </a:prstGeom>
          <a:noFill/>
          <a:ln/>
        </p:spPr>
        <p:txBody>
          <a:bodyPr wrap="square" lIns="0" tIns="0" rIns="0" bIns="0" rtlCol="0" anchor="t"/>
          <a:lstStyle/>
          <a:p>
            <a:pPr algn="ctr" indent="0" marL="0">
              <a:buNone/>
            </a:pPr>
            <a:r>
              <a:rPr lang="en-US" sz="1500" b="1" dirty="0">
                <a:solidFill>
                  <a:schemeClr val="tx1"/>
                </a:solidFill>
              </a:rPr>
              <a:t>Người dân</a:t>
            </a:r>
            <a:endParaRPr lang="en-US" sz="1500" dirty="0"/>
          </a:p>
          <a:p>
            <a:pPr algn="ctr" indent="0" marL="0">
              <a:buNone/>
            </a:pPr>
            <a:r>
              <a:rPr lang="en-US" sz="1200" dirty="0">
                <a:solidFill>
                  <a:schemeClr val="tx1"/>
                </a:solidFill>
              </a:rPr>
              <a:t>nhận thông báo</a:t>
            </a:r>
            <a:endParaRPr lang="en-US" sz="1500" dirty="0"/>
          </a:p>
        </p:txBody>
      </p:sp>
      <p:sp>
        <p:nvSpPr>
          <p:cNvPr id="28" name="Chủ phần 4"/>
          <p:cNvSpPr/>
          <p:nvPr/>
        </p:nvSpPr>
        <p:spPr>
          <a:xfrm>
            <a:off x="7269480" y="2697480"/>
            <a:ext cx="1005840" cy="320040"/>
          </a:xfrm>
          <a:prstGeom prst="roundRect">
            <a:avLst>
              <a:gd name="adj" fmla="val 22857"/>
            </a:avLst>
          </a:prstGeom>
          <a:solidFill>
            <a:schemeClr val="accent2"/>
          </a:solidFill>
          <a:ln w="12700">
            <a:solidFill>
              <a:schemeClr val="accent2"/>
            </a:solidFill>
            <a:prstDash val="solid"/>
          </a:ln>
        </p:spPr>
      </p:sp>
      <p:sp>
        <p:nvSpPr>
          <p:cNvPr id="29" name="Chữ chủ phần 4"/>
          <p:cNvSpPr txBox="1"/>
          <p:nvPr/>
        </p:nvSpPr>
        <p:spPr>
          <a:xfrm>
            <a:off x="7269480" y="2697480"/>
            <a:ext cx="1005840" cy="320040"/>
          </a:xfrm>
          <a:prstGeom prst="rect">
            <a:avLst/>
          </a:prstGeom>
          <a:noFill/>
          <a:ln/>
        </p:spPr>
        <p:txBody>
          <a:bodyPr wrap="square" lIns="0" tIns="0" rIns="0" bIns="0" rtlCol="0" anchor="ctr"/>
          <a:lstStyle/>
          <a:p>
            <a:pPr algn="ctr" indent="0" marL="0">
              <a:buNone/>
            </a:pPr>
            <a:r>
              <a:rPr lang="en-US" sz="1100" b="1" dirty="0">
                <a:solidFill>
                  <a:schemeClr val="tx1"/>
                </a:solidFill>
              </a:rPr>
              <a:t>Phần Duệ</a:t>
            </a:r>
            <a:endParaRPr lang="en-US" sz="1100" dirty="0"/>
          </a:p>
        </p:txBody>
      </p:sp>
      <p:sp>
        <p:nvSpPr>
          <p:cNvPr id="30" name="Khung quản trị"/>
          <p:cNvSpPr/>
          <p:nvPr/>
        </p:nvSpPr>
        <p:spPr>
          <a:xfrm>
            <a:off x="457200" y="3474720"/>
            <a:ext cx="8229600" cy="822960"/>
          </a:xfrm>
          <a:prstGeom prst="roundRect">
            <a:avLst>
              <a:gd name="adj" fmla="val 8889"/>
            </a:avLst>
          </a:prstGeom>
          <a:solidFill>
            <a:schemeClr val="tx2"/>
          </a:solidFill>
          <a:ln w="12700">
            <a:solidFill>
              <a:schemeClr val="tx2"/>
            </a:solidFill>
            <a:prstDash val="solid"/>
          </a:ln>
        </p:spPr>
      </p:sp>
      <p:sp>
        <p:nvSpPr>
          <p:cNvPr id="31" name="Nội dung quản trị"/>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400" dirty="0">
                <a:solidFill>
                  <a:schemeClr val="bg1"/>
                </a:solidFill>
              </a:rPr>
              <a:t>Quang (Quản trị viên): quản lý loại rác và tài khoản, ảnh hưởng đến cả ba bước trên.</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Kết quả kiểm thử</a:t>
            </a:r>
            <a:endParaRPr lang="en-US" sz="2800" dirty="0"/>
          </a:p>
        </p:txBody>
      </p:sp>
      <p:sp>
        <p:nvSpPr>
          <p:cNvPr id="3" name="Thẻ số 0"/>
          <p:cNvSpPr/>
          <p:nvPr/>
        </p:nvSpPr>
        <p:spPr>
          <a:xfrm>
            <a:off x="457200" y="1188720"/>
            <a:ext cx="1920240" cy="1737360"/>
          </a:xfrm>
          <a:prstGeom prst="roundRect">
            <a:avLst>
              <a:gd name="adj" fmla="val 4211"/>
            </a:avLst>
          </a:prstGeom>
          <a:solidFill>
            <a:schemeClr val="bg2"/>
          </a:solidFill>
          <a:ln w="25400">
            <a:solidFill>
              <a:schemeClr val="accent1"/>
            </a:solidFill>
            <a:prstDash val="solid"/>
          </a:ln>
        </p:spPr>
      </p:sp>
      <p:sp>
        <p:nvSpPr>
          <p:cNvPr id="4" name="Số liệu 0"/>
          <p:cNvSpPr txBox="1"/>
          <p:nvPr/>
        </p:nvSpPr>
        <p:spPr>
          <a:xfrm>
            <a:off x="457200" y="1325880"/>
            <a:ext cx="1920240" cy="822960"/>
          </a:xfrm>
          <a:prstGeom prst="rect">
            <a:avLst/>
          </a:prstGeom>
          <a:noFill/>
          <a:ln/>
        </p:spPr>
        <p:txBody>
          <a:bodyPr wrap="square" lIns="0" tIns="0" rIns="0" bIns="0" rtlCol="0" anchor="ctr"/>
          <a:lstStyle/>
          <a:p>
            <a:pPr algn="ctr" indent="0" marL="0">
              <a:buNone/>
            </a:pPr>
            <a:r>
              <a:rPr lang="en-US" sz="4000" b="1" dirty="0">
                <a:solidFill>
                  <a:schemeClr val="accent1"/>
                </a:solidFill>
              </a:rPr>
              <a:t>21</a:t>
            </a:r>
            <a:endParaRPr lang="en-US" sz="4000" dirty="0"/>
          </a:p>
        </p:txBody>
      </p:sp>
      <p:sp>
        <p:nvSpPr>
          <p:cNvPr id="5" name="Nhãn số liệu 0"/>
          <p:cNvSpPr txBox="1"/>
          <p:nvPr/>
        </p:nvSpPr>
        <p:spPr>
          <a:xfrm>
            <a:off x="548640" y="2194560"/>
            <a:ext cx="1737360" cy="548640"/>
          </a:xfrm>
          <a:prstGeom prst="rect">
            <a:avLst/>
          </a:prstGeom>
          <a:noFill/>
          <a:ln/>
        </p:spPr>
        <p:txBody>
          <a:bodyPr wrap="square" lIns="0" tIns="0" rIns="0" bIns="0" rtlCol="0" anchor="t"/>
          <a:lstStyle/>
          <a:p>
            <a:pPr algn="ctr" indent="0" marL="0">
              <a:buNone/>
            </a:pPr>
            <a:r>
              <a:rPr lang="en-US" sz="1300" dirty="0">
                <a:solidFill>
                  <a:schemeClr val="tx1"/>
                </a:solidFill>
              </a:rPr>
              <a:t>giao diện hoàn chỉnh</a:t>
            </a:r>
            <a:endParaRPr lang="en-US" sz="1300" dirty="0"/>
          </a:p>
        </p:txBody>
      </p:sp>
      <p:sp>
        <p:nvSpPr>
          <p:cNvPr id="6" name="Thẻ số 1"/>
          <p:cNvSpPr/>
          <p:nvPr/>
        </p:nvSpPr>
        <p:spPr>
          <a:xfrm>
            <a:off x="2514600" y="1188720"/>
            <a:ext cx="1920240" cy="1737360"/>
          </a:xfrm>
          <a:prstGeom prst="roundRect">
            <a:avLst>
              <a:gd name="adj" fmla="val 4211"/>
            </a:avLst>
          </a:prstGeom>
          <a:solidFill>
            <a:schemeClr val="bg2"/>
          </a:solidFill>
          <a:ln w="25400">
            <a:solidFill>
              <a:schemeClr val="accent3"/>
            </a:solidFill>
            <a:prstDash val="solid"/>
          </a:ln>
        </p:spPr>
      </p:sp>
      <p:sp>
        <p:nvSpPr>
          <p:cNvPr id="7" name="Số liệu 1"/>
          <p:cNvSpPr txBox="1"/>
          <p:nvPr/>
        </p:nvSpPr>
        <p:spPr>
          <a:xfrm>
            <a:off x="2514600" y="1325880"/>
            <a:ext cx="1920240" cy="822960"/>
          </a:xfrm>
          <a:prstGeom prst="rect">
            <a:avLst/>
          </a:prstGeom>
          <a:noFill/>
          <a:ln/>
        </p:spPr>
        <p:txBody>
          <a:bodyPr wrap="square" lIns="0" tIns="0" rIns="0" bIns="0" rtlCol="0" anchor="ctr"/>
          <a:lstStyle/>
          <a:p>
            <a:pPr algn="ctr" indent="0" marL="0">
              <a:buNone/>
            </a:pPr>
            <a:r>
              <a:rPr lang="en-US" sz="4000" b="1" dirty="0">
                <a:solidFill>
                  <a:schemeClr val="accent3"/>
                </a:solidFill>
              </a:rPr>
              <a:t>4</a:t>
            </a:r>
            <a:endParaRPr lang="en-US" sz="4000" dirty="0"/>
          </a:p>
        </p:txBody>
      </p:sp>
      <p:sp>
        <p:nvSpPr>
          <p:cNvPr id="8" name="Nhãn số liệu 1"/>
          <p:cNvSpPr txBox="1"/>
          <p:nvPr/>
        </p:nvSpPr>
        <p:spPr>
          <a:xfrm>
            <a:off x="2606040" y="2194560"/>
            <a:ext cx="1737360" cy="548640"/>
          </a:xfrm>
          <a:prstGeom prst="rect">
            <a:avLst/>
          </a:prstGeom>
          <a:noFill/>
          <a:ln/>
        </p:spPr>
        <p:txBody>
          <a:bodyPr wrap="square" lIns="0" tIns="0" rIns="0" bIns="0" rtlCol="0" anchor="t"/>
          <a:lstStyle/>
          <a:p>
            <a:pPr algn="ctr" indent="0" marL="0">
              <a:buNone/>
            </a:pPr>
            <a:r>
              <a:rPr lang="en-US" sz="1300" dirty="0">
                <a:solidFill>
                  <a:schemeClr val="tx1"/>
                </a:solidFill>
              </a:rPr>
              <a:t>vai trò, phân quyền riêng</a:t>
            </a:r>
            <a:endParaRPr lang="en-US" sz="1300" dirty="0"/>
          </a:p>
        </p:txBody>
      </p:sp>
      <p:sp>
        <p:nvSpPr>
          <p:cNvPr id="9" name="Thẻ số 2"/>
          <p:cNvSpPr/>
          <p:nvPr/>
        </p:nvSpPr>
        <p:spPr>
          <a:xfrm>
            <a:off x="4572000" y="1188720"/>
            <a:ext cx="1920240" cy="1737360"/>
          </a:xfrm>
          <a:prstGeom prst="roundRect">
            <a:avLst>
              <a:gd name="adj" fmla="val 4211"/>
            </a:avLst>
          </a:prstGeom>
          <a:solidFill>
            <a:schemeClr val="bg2"/>
          </a:solidFill>
          <a:ln w="25400">
            <a:solidFill>
              <a:schemeClr val="accent2"/>
            </a:solidFill>
            <a:prstDash val="solid"/>
          </a:ln>
        </p:spPr>
      </p:sp>
      <p:sp>
        <p:nvSpPr>
          <p:cNvPr id="10" name="Số liệu 2"/>
          <p:cNvSpPr txBox="1"/>
          <p:nvPr/>
        </p:nvSpPr>
        <p:spPr>
          <a:xfrm>
            <a:off x="4572000" y="1325880"/>
            <a:ext cx="1920240" cy="822960"/>
          </a:xfrm>
          <a:prstGeom prst="rect">
            <a:avLst/>
          </a:prstGeom>
          <a:noFill/>
          <a:ln/>
        </p:spPr>
        <p:txBody>
          <a:bodyPr wrap="square" lIns="0" tIns="0" rIns="0" bIns="0" rtlCol="0" anchor="ctr"/>
          <a:lstStyle/>
          <a:p>
            <a:pPr algn="ctr" indent="0" marL="0">
              <a:buNone/>
            </a:pPr>
            <a:r>
              <a:rPr lang="en-US" sz="4000" b="1" dirty="0">
                <a:solidFill>
                  <a:schemeClr val="accent2"/>
                </a:solidFill>
              </a:rPr>
              <a:t>28/28</a:t>
            </a:r>
            <a:endParaRPr lang="en-US" sz="4000" dirty="0"/>
          </a:p>
        </p:txBody>
      </p:sp>
      <p:sp>
        <p:nvSpPr>
          <p:cNvPr id="11" name="Nhãn số liệu 2"/>
          <p:cNvSpPr txBox="1"/>
          <p:nvPr/>
        </p:nvSpPr>
        <p:spPr>
          <a:xfrm>
            <a:off x="4663440" y="2194560"/>
            <a:ext cx="1737360" cy="548640"/>
          </a:xfrm>
          <a:prstGeom prst="rect">
            <a:avLst/>
          </a:prstGeom>
          <a:noFill/>
          <a:ln/>
        </p:spPr>
        <p:txBody>
          <a:bodyPr wrap="square" lIns="0" tIns="0" rIns="0" bIns="0" rtlCol="0" anchor="t"/>
          <a:lstStyle/>
          <a:p>
            <a:pPr algn="ctr" indent="0" marL="0">
              <a:buNone/>
            </a:pPr>
            <a:r>
              <a:rPr lang="en-US" sz="1300" dirty="0">
                <a:solidFill>
                  <a:schemeClr val="tx1"/>
                </a:solidFill>
              </a:rPr>
              <a:t>lượt mở trang đúng</a:t>
            </a:r>
            <a:endParaRPr lang="en-US" sz="1300" dirty="0"/>
          </a:p>
        </p:txBody>
      </p:sp>
      <p:sp>
        <p:nvSpPr>
          <p:cNvPr id="12" name="Thẻ số 3"/>
          <p:cNvSpPr/>
          <p:nvPr/>
        </p:nvSpPr>
        <p:spPr>
          <a:xfrm>
            <a:off x="6629400" y="1188720"/>
            <a:ext cx="1920240" cy="1737360"/>
          </a:xfrm>
          <a:prstGeom prst="roundRect">
            <a:avLst>
              <a:gd name="adj" fmla="val 4211"/>
            </a:avLst>
          </a:prstGeom>
          <a:solidFill>
            <a:schemeClr val="bg2"/>
          </a:solidFill>
          <a:ln w="25400">
            <a:solidFill>
              <a:schemeClr val="accent4"/>
            </a:solidFill>
            <a:prstDash val="solid"/>
          </a:ln>
        </p:spPr>
      </p:sp>
      <p:sp>
        <p:nvSpPr>
          <p:cNvPr id="13" name="Số liệu 3"/>
          <p:cNvSpPr txBox="1"/>
          <p:nvPr/>
        </p:nvSpPr>
        <p:spPr>
          <a:xfrm>
            <a:off x="6629400" y="1325880"/>
            <a:ext cx="1920240" cy="822960"/>
          </a:xfrm>
          <a:prstGeom prst="rect">
            <a:avLst/>
          </a:prstGeom>
          <a:noFill/>
          <a:ln/>
        </p:spPr>
        <p:txBody>
          <a:bodyPr wrap="square" lIns="0" tIns="0" rIns="0" bIns="0" rtlCol="0" anchor="ctr"/>
          <a:lstStyle/>
          <a:p>
            <a:pPr algn="ctr" indent="0" marL="0">
              <a:buNone/>
            </a:pPr>
            <a:r>
              <a:rPr lang="en-US" sz="4000" b="1" dirty="0">
                <a:solidFill>
                  <a:schemeClr val="accent4"/>
                </a:solidFill>
              </a:rPr>
              <a:t>0</a:t>
            </a:r>
            <a:endParaRPr lang="en-US" sz="4000" dirty="0"/>
          </a:p>
        </p:txBody>
      </p:sp>
      <p:sp>
        <p:nvSpPr>
          <p:cNvPr id="14" name="Nhãn số liệu 3"/>
          <p:cNvSpPr txBox="1"/>
          <p:nvPr/>
        </p:nvSpPr>
        <p:spPr>
          <a:xfrm>
            <a:off x="6720840" y="2194560"/>
            <a:ext cx="1737360" cy="548640"/>
          </a:xfrm>
          <a:prstGeom prst="rect">
            <a:avLst/>
          </a:prstGeom>
          <a:noFill/>
          <a:ln/>
        </p:spPr>
        <p:txBody>
          <a:bodyPr wrap="square" lIns="0" tIns="0" rIns="0" bIns="0" rtlCol="0" anchor="t"/>
          <a:lstStyle/>
          <a:p>
            <a:pPr algn="ctr" indent="0" marL="0">
              <a:buNone/>
            </a:pPr>
            <a:r>
              <a:rPr lang="en-US" sz="1300" dirty="0">
                <a:solidFill>
                  <a:schemeClr val="tx1"/>
                </a:solidFill>
              </a:rPr>
              <a:t>lỗi JavaScript</a:t>
            </a:r>
            <a:endParaRPr lang="en-US" sz="1300" dirty="0"/>
          </a:p>
        </p:txBody>
      </p:sp>
      <p:sp>
        <p:nvSpPr>
          <p:cNvPr id="15" name="Tài khoản demo"/>
          <p:cNvSpPr txBox="1"/>
          <p:nvPr/>
        </p:nvSpPr>
        <p:spPr>
          <a:xfrm>
            <a:off x="457200" y="3291840"/>
            <a:ext cx="8229600" cy="822960"/>
          </a:xfrm>
          <a:prstGeom prst="rect">
            <a:avLst/>
          </a:prstGeom>
          <a:noFill/>
          <a:ln/>
        </p:spPr>
        <p:txBody>
          <a:bodyPr wrap="square" lIns="0" tIns="0" rIns="0" bIns="0" rtlCol="0" anchor="ctr"/>
          <a:lstStyle/>
          <a:p>
            <a:pPr indent="0" marL="0">
              <a:buNone/>
            </a:pPr>
            <a:r>
              <a:rPr lang="en-US" sz="1400" b="1" dirty="0">
                <a:solidFill>
                  <a:schemeClr val="tx2"/>
                </a:solidFill>
              </a:rPr>
              <a:t>Tài khoản demo (mật khẩu 123456)</a:t>
            </a:r>
            <a:endParaRPr lang="en-US" sz="1400" dirty="0"/>
          </a:p>
          <a:p>
            <a:pPr indent="0" marL="0">
              <a:buNone/>
            </a:pPr>
            <a:r>
              <a:rPr lang="en-US" sz="1400" dirty="0">
                <a:solidFill>
                  <a:schemeClr val="tx1"/>
                </a:solidFill>
              </a:rPr>
              <a:t>Người dân: dan@gs.com · Nhân viên: nv@gs.com · Điều phối: dp@gs.com · Quản trị: ad@gs.com</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Hạn chế và hướng phát triển</a:t>
            </a:r>
            <a:endParaRPr lang="en-US" sz="2800" dirty="0"/>
          </a:p>
        </p:txBody>
      </p:sp>
      <p:sp>
        <p:nvSpPr>
          <p:cNvPr id="3" name="Hạn chế khung"/>
          <p:cNvSpPr/>
          <p:nvPr/>
        </p:nvSpPr>
        <p:spPr>
          <a:xfrm>
            <a:off x="457200" y="1097280"/>
            <a:ext cx="3977640" cy="2743200"/>
          </a:xfrm>
          <a:prstGeom prst="roundRect">
            <a:avLst>
              <a:gd name="adj" fmla="val 2667"/>
            </a:avLst>
          </a:prstGeom>
          <a:solidFill>
            <a:schemeClr val="bg2"/>
          </a:solidFill>
          <a:ln w="12700">
            <a:solidFill>
              <a:schemeClr val="bg2"/>
            </a:solidFill>
            <a:prstDash val="solid"/>
          </a:ln>
        </p:spPr>
      </p:sp>
      <p:sp>
        <p:nvSpPr>
          <p:cNvPr id="4" name="Hạn chế thanh màu"/>
          <p:cNvSpPr/>
          <p:nvPr/>
        </p:nvSpPr>
        <p:spPr>
          <a:xfrm>
            <a:off x="457200" y="1207008"/>
            <a:ext cx="64008" cy="365760"/>
          </a:xfrm>
          <a:prstGeom prst="rect">
            <a:avLst/>
          </a:prstGeom>
          <a:solidFill>
            <a:schemeClr val="accent4"/>
          </a:solidFill>
          <a:ln w="12700">
            <a:solidFill>
              <a:schemeClr val="accent4"/>
            </a:solidFill>
            <a:prstDash val="solid"/>
          </a:ln>
        </p:spPr>
      </p:sp>
      <p:sp>
        <p:nvSpPr>
          <p:cNvPr id="5" name="Hạn chế tiêu đề"/>
          <p:cNvSpPr txBox="1"/>
          <p:nvPr/>
        </p:nvSpPr>
        <p:spPr>
          <a:xfrm>
            <a:off x="640080" y="1188720"/>
            <a:ext cx="3703320" cy="411480"/>
          </a:xfrm>
          <a:prstGeom prst="rect">
            <a:avLst/>
          </a:prstGeom>
          <a:noFill/>
          <a:ln/>
        </p:spPr>
        <p:txBody>
          <a:bodyPr wrap="square" lIns="0" tIns="0" rIns="0" bIns="0" rtlCol="0" anchor="ctr"/>
          <a:lstStyle/>
          <a:p>
            <a:pPr indent="0" marL="0">
              <a:buNone/>
            </a:pPr>
            <a:r>
              <a:rPr lang="en-US" sz="1500" b="1" dirty="0">
                <a:solidFill>
                  <a:schemeClr val="tx2"/>
                </a:solidFill>
              </a:rPr>
              <a:t>Hạn chế hiện tại</a:t>
            </a:r>
            <a:endParaRPr lang="en-US" sz="1500" dirty="0"/>
          </a:p>
        </p:txBody>
      </p:sp>
      <p:sp>
        <p:nvSpPr>
          <p:cNvPr id="6" name="Hạn chế nội dung"/>
          <p:cNvSpPr txBox="1"/>
          <p:nvPr/>
        </p:nvSpPr>
        <p:spPr>
          <a:xfrm>
            <a:off x="64008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Dữ liệu chỉ nằm trong trình duyệt</a:t>
            </a:r>
            <a:endParaRPr lang="en-US" sz="1600" dirty="0"/>
          </a:p>
          <a:p>
            <a:pPr marL="342900" indent="-342900">
              <a:spcAft>
                <a:spcPts val="500"/>
              </a:spcAft>
              <a:buSzPct val="100000"/>
              <a:buChar char="•"/>
            </a:pPr>
            <a:r>
              <a:rPr lang="en-US" sz="1600" dirty="0">
                <a:solidFill>
                  <a:schemeClr val="tx1"/>
                </a:solidFill>
              </a:rPr>
              <a:t>Mật khẩu chưa được mã hóa</a:t>
            </a:r>
            <a:endParaRPr lang="en-US" sz="1600" dirty="0"/>
          </a:p>
          <a:p>
            <a:pPr marL="342900" indent="-342900">
              <a:spcAft>
                <a:spcPts val="500"/>
              </a:spcAft>
              <a:buSzPct val="100000"/>
              <a:buChar char="•"/>
            </a:pPr>
            <a:r>
              <a:rPr lang="en-US" sz="1600" dirty="0">
                <a:solidFill>
                  <a:schemeClr val="tx1"/>
                </a:solidFill>
              </a:rPr>
              <a:t>Quên mật khẩu chỉ mô phỏng</a:t>
            </a:r>
            <a:endParaRPr lang="en-US" sz="1600" dirty="0"/>
          </a:p>
          <a:p>
            <a:pPr marL="342900" indent="-342900">
              <a:spcAft>
                <a:spcPts val="500"/>
              </a:spcAft>
              <a:buSzPct val="100000"/>
              <a:buChar char="•"/>
            </a:pPr>
            <a:r>
              <a:rPr lang="en-US" sz="1600" dirty="0">
                <a:solidFill>
                  <a:schemeClr val="tx1"/>
                </a:solidFill>
              </a:rPr>
              <a:t>Tuyến thu gom chưa có bản đồ</a:t>
            </a:r>
            <a:endParaRPr lang="en-US" sz="1600" dirty="0"/>
          </a:p>
        </p:txBody>
      </p:sp>
      <p:sp>
        <p:nvSpPr>
          <p:cNvPr id="7" name="Hướng phát triển khung"/>
          <p:cNvSpPr/>
          <p:nvPr/>
        </p:nvSpPr>
        <p:spPr>
          <a:xfrm>
            <a:off x="4709160" y="1097280"/>
            <a:ext cx="3977640" cy="2743200"/>
          </a:xfrm>
          <a:prstGeom prst="roundRect">
            <a:avLst>
              <a:gd name="adj" fmla="val 2667"/>
            </a:avLst>
          </a:prstGeom>
          <a:solidFill>
            <a:schemeClr val="bg2"/>
          </a:solidFill>
          <a:ln w="12700">
            <a:solidFill>
              <a:schemeClr val="bg2"/>
            </a:solidFill>
            <a:prstDash val="solid"/>
          </a:ln>
        </p:spPr>
      </p:sp>
      <p:sp>
        <p:nvSpPr>
          <p:cNvPr id="8" name="Hướng phát triển thanh màu"/>
          <p:cNvSpPr/>
          <p:nvPr/>
        </p:nvSpPr>
        <p:spPr>
          <a:xfrm>
            <a:off x="4709160" y="1207008"/>
            <a:ext cx="64008" cy="365760"/>
          </a:xfrm>
          <a:prstGeom prst="rect">
            <a:avLst/>
          </a:prstGeom>
          <a:solidFill>
            <a:schemeClr val="accent1"/>
          </a:solidFill>
          <a:ln w="12700">
            <a:solidFill>
              <a:schemeClr val="accent1"/>
            </a:solidFill>
            <a:prstDash val="solid"/>
          </a:ln>
        </p:spPr>
      </p:sp>
      <p:sp>
        <p:nvSpPr>
          <p:cNvPr id="9" name="Hướng phát triển tiêu đề"/>
          <p:cNvSpPr txBox="1"/>
          <p:nvPr/>
        </p:nvSpPr>
        <p:spPr>
          <a:xfrm>
            <a:off x="4892040" y="1188720"/>
            <a:ext cx="3703320" cy="411480"/>
          </a:xfrm>
          <a:prstGeom prst="rect">
            <a:avLst/>
          </a:prstGeom>
          <a:noFill/>
          <a:ln/>
        </p:spPr>
        <p:txBody>
          <a:bodyPr wrap="square" lIns="0" tIns="0" rIns="0" bIns="0" rtlCol="0" anchor="ctr"/>
          <a:lstStyle/>
          <a:p>
            <a:pPr indent="0" marL="0">
              <a:buNone/>
            </a:pPr>
            <a:r>
              <a:rPr lang="en-US" sz="1500" b="1" dirty="0">
                <a:solidFill>
                  <a:schemeClr val="tx2"/>
                </a:solidFill>
              </a:rPr>
              <a:t>Hướng phát triển</a:t>
            </a:r>
            <a:endParaRPr lang="en-US" sz="1500" dirty="0"/>
          </a:p>
        </p:txBody>
      </p:sp>
      <p:sp>
        <p:nvSpPr>
          <p:cNvPr id="10" name="Hướng phát triển nội dung"/>
          <p:cNvSpPr txBox="1"/>
          <p:nvPr/>
        </p:nvSpPr>
        <p:spPr>
          <a:xfrm>
            <a:off x="489204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tx1"/>
                </a:solidFill>
              </a:rPr>
              <a:t>Thêm backend và cơ sở dữ liệu thật</a:t>
            </a:r>
            <a:endParaRPr lang="en-US" sz="1600" dirty="0"/>
          </a:p>
          <a:p>
            <a:pPr marL="342900" indent="-342900">
              <a:spcAft>
                <a:spcPts val="500"/>
              </a:spcAft>
              <a:buSzPct val="100000"/>
              <a:buChar char="•"/>
            </a:pPr>
            <a:r>
              <a:rPr lang="en-US" sz="1600" dirty="0">
                <a:solidFill>
                  <a:schemeClr val="tx1"/>
                </a:solidFill>
              </a:rPr>
              <a:t>Mã hóa mật khẩu, gửi email xác nhận</a:t>
            </a:r>
            <a:endParaRPr lang="en-US" sz="1600" dirty="0"/>
          </a:p>
          <a:p>
            <a:pPr marL="342900" indent="-342900">
              <a:spcAft>
                <a:spcPts val="500"/>
              </a:spcAft>
              <a:buSzPct val="100000"/>
              <a:buChar char="•"/>
            </a:pPr>
            <a:r>
              <a:rPr lang="en-US" sz="1600" dirty="0">
                <a:solidFill>
                  <a:schemeClr val="tx1"/>
                </a:solidFill>
              </a:rPr>
              <a:t>Tích hợp bản đồ cho tuyến thu gom</a:t>
            </a:r>
            <a:endParaRPr lang="en-US" sz="1600" dirty="0"/>
          </a:p>
          <a:p>
            <a:pPr marL="342900" indent="-342900">
              <a:spcAft>
                <a:spcPts val="500"/>
              </a:spcAft>
              <a:buSzPct val="100000"/>
              <a:buChar char="•"/>
            </a:pPr>
            <a:r>
              <a:rPr lang="en-US" sz="1600" dirty="0">
                <a:solidFill>
                  <a:schemeClr val="tx1"/>
                </a:solidFill>
              </a:rPr>
              <a:t>Thêm biểu đồ thống kê theo thời gian</a:t>
            </a:r>
            <a:endParaRPr lang="en-US" sz="1600" dirty="0"/>
          </a:p>
        </p:txBody>
      </p:sp>
      <p:sp>
        <p:nvSpPr>
          <p:cNvPr id="11" name="Lời cảm ơn"/>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2000" b="1" dirty="0">
                <a:solidFill>
                  <a:schemeClr val="tx2"/>
                </a:solidFill>
              </a:rPr>
              <a:t>Xin cảm ơn thầy cô và các bạn đã lắng nghe!</a:t>
            </a:r>
            <a:endParaRPr lang="en-US" sz="2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GreenSort">
  <a:themeElements>
    <a:clrScheme name="GreenSort">
      <a:dk1>
        <a:srgbClr val="1B2A22"/>
      </a:dk1>
      <a:lt1>
        <a:srgbClr val="FFFFFF"/>
      </a:lt1>
      <a:dk2>
        <a:srgbClr val="14532D"/>
      </a:dk2>
      <a:lt2>
        <a:srgbClr val="EEF6F0"/>
      </a:lt2>
      <a:accent1>
        <a:srgbClr val="2E8B57"/>
      </a:accent1>
      <a:accent2>
        <a:srgbClr val="F4A300"/>
      </a:accent2>
      <a:accent3>
        <a:srgbClr val="2F6FDE"/>
      </a:accent3>
      <a:accent4>
        <a:srgbClr val="C0392B"/>
      </a:accent4>
      <a:accent5>
        <a:srgbClr val="6B7F73"/>
      </a:accent5>
      <a:accent6>
        <a:srgbClr val="A8D5BA"/>
      </a:accent6>
      <a:hlink>
        <a:srgbClr val="2F6FDE"/>
      </a:hlink>
      <a:folHlink>
        <a:srgbClr val="6B7F73"/>
      </a:folHlink>
    </a:clrScheme>
    <a:fontScheme name="GreenSo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GreenSort - Nhóm 5</dc:title>
  <dc:subject>PptxGenJS Presentation</dc:subject>
  <dc:creator>Nhóm 5: Quang, Cảnh, Duệ</dc:creator>
  <cp:lastModifiedBy>Nhóm 5: Quang, Cảnh, Duệ</cp:lastModifiedBy>
  <cp:revision>1</cp:revision>
  <dcterms:created xsi:type="dcterms:W3CDTF">2026-10-25T01:03:59Z</dcterms:created>
  <dcterms:modified xsi:type="dcterms:W3CDTF">2026-10-25T01:03:59Z</dcterms:modified>
</cp:coreProperties>
</file>